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7474"/>
    <a:srgbClr val="50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94565"/>
  </p:normalViewPr>
  <p:slideViewPr>
    <p:cSldViewPr snapToGrid="0" snapToObjects="1">
      <p:cViewPr varScale="1">
        <p:scale>
          <a:sx n="113" d="100"/>
          <a:sy n="113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337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859536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450" b="1">
                <a:solidFill>
                  <a:srgbClr val="111111"/>
                </a:solidFill>
                <a:latin typeface="Arial"/>
              </a:rPr>
              <a:t>Comparing LLMs and Fine-Tuned Transformer-Based Models for Biomedical NER and Relation Extraction for Knowledge Graph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46920" y="1737360"/>
            <a:ext cx="1828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050" b="1">
                <a:solidFill>
                  <a:srgbClr val="111111"/>
                </a:solidFill>
                <a:latin typeface="Arial"/>
              </a:rPr>
              <a:t>Student Name - Mridul Milan
Student ID - 25234387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04288"/>
            <a:ext cx="3017520" cy="29260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Updated Project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51760"/>
            <a:ext cx="10424160" cy="1554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11111"/>
                </a:solidFill>
                <a:latin typeface="Arial"/>
              </a:defRPr>
            </a:pPr>
            <a:r>
              <a:t>• Project remains focused on biomedical NER and relation extraction.</a:t>
            </a:r>
          </a:p>
          <a:p>
            <a:pPr>
              <a:spcAft>
                <a:spcPts val="500"/>
              </a:spcAft>
              <a:defRPr sz="1300" b="0">
                <a:solidFill>
                  <a:srgbClr val="111111"/>
                </a:solidFill>
                <a:latin typeface="Arial"/>
              </a:defRPr>
            </a:pPr>
            <a:r>
              <a:t>• Aim: compare fine-tuned biomedical transformer models with LLM prompt-based extraction.</a:t>
            </a:r>
          </a:p>
          <a:p>
            <a:pPr>
              <a:spcAft>
                <a:spcPts val="500"/>
              </a:spcAft>
              <a:defRPr sz="1300" b="0">
                <a:solidFill>
                  <a:srgbClr val="111111"/>
                </a:solidFill>
                <a:latin typeface="Arial"/>
              </a:defRPr>
            </a:pPr>
            <a:r>
              <a:t>• Literature review has been expanded and reorganised.</a:t>
            </a:r>
          </a:p>
          <a:p>
            <a:pPr>
              <a:spcAft>
                <a:spcPts val="500"/>
              </a:spcAft>
              <a:defRPr sz="1300" b="0">
                <a:solidFill>
                  <a:srgbClr val="111111"/>
                </a:solidFill>
                <a:latin typeface="Arial"/>
              </a:defRPr>
            </a:pPr>
            <a:r>
              <a:t>• Papers are now grouped into three clear themes.</a:t>
            </a:r>
          </a:p>
          <a:p>
            <a:pPr>
              <a:spcAft>
                <a:spcPts val="500"/>
              </a:spcAft>
              <a:defRPr sz="1300" b="0">
                <a:solidFill>
                  <a:srgbClr val="111111"/>
                </a:solidFill>
                <a:latin typeface="Arial"/>
              </a:defRPr>
            </a:pPr>
            <a:r>
              <a:t>• One additional LLM-related paper has been added to strengthen the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343400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Main focus: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736592"/>
            <a:ext cx="10058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650" b="1">
                <a:solidFill>
                  <a:srgbClr val="A00050"/>
                </a:solidFill>
                <a:latin typeface="Arial"/>
              </a:rPr>
              <a:t>Biomedical NER + Relation Extraction  →  Evaluation  →  Knowledge Graph Construction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500" b="1">
                <a:solidFill>
                  <a:srgbClr val="111111"/>
                </a:solidFill>
                <a:latin typeface="Arial"/>
              </a:rPr>
              <a:t>Main Changes Since Previous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515600" cy="3017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11111"/>
                </a:solidFill>
                <a:latin typeface="Arial"/>
              </a:defRPr>
            </a:pPr>
            <a:r>
              <a:t>• Completed and organised the literature review into 11 papers.</a:t>
            </a:r>
          </a:p>
          <a:p>
            <a:pPr>
              <a:spcAft>
                <a:spcPts val="500"/>
              </a:spcAft>
              <a:defRPr sz="1500" b="0">
                <a:solidFill>
                  <a:srgbClr val="111111"/>
                </a:solidFill>
                <a:latin typeface="Arial"/>
              </a:defRPr>
            </a:pPr>
            <a:r>
              <a:t>• Grouped the papers into three main themes instead of listing them separately.</a:t>
            </a:r>
          </a:p>
          <a:p>
            <a:pPr>
              <a:spcAft>
                <a:spcPts val="500"/>
              </a:spcAft>
              <a:defRPr sz="1500" b="0">
                <a:solidFill>
                  <a:srgbClr val="111111"/>
                </a:solidFill>
                <a:latin typeface="Arial"/>
              </a:defRPr>
            </a:pPr>
            <a:r>
              <a:t>• Added one more LLM-related biomedical evaluation paper.</a:t>
            </a:r>
          </a:p>
          <a:p>
            <a:pPr>
              <a:spcAft>
                <a:spcPts val="500"/>
              </a:spcAft>
              <a:defRPr sz="1500" b="0">
                <a:solidFill>
                  <a:srgbClr val="111111"/>
                </a:solidFill>
                <a:latin typeface="Arial"/>
              </a:defRPr>
            </a:pPr>
            <a:r>
              <a:t>• Clarified BioRED as the main labelled dataset for evaluation.</a:t>
            </a:r>
          </a:p>
          <a:p>
            <a:pPr>
              <a:spcAft>
                <a:spcPts val="500"/>
              </a:spcAft>
              <a:defRPr sz="1500" b="0">
                <a:solidFill>
                  <a:srgbClr val="111111"/>
                </a:solidFill>
                <a:latin typeface="Arial"/>
              </a:defRPr>
            </a:pPr>
            <a:r>
              <a:t>• Separated papers by input, outcome, contribution type, and relevance.</a:t>
            </a:r>
          </a:p>
          <a:p>
            <a:pPr>
              <a:spcAft>
                <a:spcPts val="500"/>
              </a:spcAft>
              <a:defRPr sz="1500" b="0">
                <a:solidFill>
                  <a:srgbClr val="111111"/>
                </a:solidFill>
                <a:latin typeface="Arial"/>
              </a:defRPr>
            </a:pPr>
            <a:r>
              <a:t>• Refined the methodology around two parallel extraction pipelines.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230368"/>
            <a:ext cx="9966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Key improvement: the literature review is now directly connected to the dataset choice and methodology.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500" b="1">
                <a:solidFill>
                  <a:srgbClr val="111111"/>
                </a:solidFill>
                <a:latin typeface="Arial"/>
              </a:rPr>
              <a:t>Literature Review Grouped into Three Themes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58368" y="1828800"/>
          <a:ext cx="108356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Theme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Papers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Relevance to project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Scientific Extraction Foundations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S2ORC, Luan et al., Wadden et al., S2AND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Original foundation for scientific information extraction and knowledge graph construction.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Biomedical NER and Relation Extraction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BioBERT, PubMedBERT, BioRED, EMBRE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Supports biomedical dataset choice, domain-specific models, and relation extraction methods.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LLM-Based Biomedical Extraction and KG Construction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Zhang et al., Arsenyan et al., Jahan et al.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70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Supports LLM extraction, biomedical evaluation, and knowledge graph construction.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3232" y="5074920"/>
            <a:ext cx="9966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This grouping shows the project movement from general scientific extraction to biomedical model comparison.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500" b="1">
                <a:solidFill>
                  <a:srgbClr val="111111"/>
                </a:solidFill>
                <a:latin typeface="Arial"/>
              </a:rPr>
              <a:t>New LLM Paper Added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1">
                <a:solidFill>
                  <a:srgbClr val="A00050"/>
                </a:solidFill>
                <a:latin typeface="Arial"/>
              </a:rPr>
              <a:t>Jahan et al. (2024): A Comprehensive Evaluation of Large Language Models on Benchmark Biomedical Text Processing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240280"/>
            <a:ext cx="5166360" cy="1874519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350008"/>
            <a:ext cx="494690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1">
                <a:solidFill>
                  <a:srgbClr val="A00050"/>
                </a:solidFill>
                <a:latin typeface="Arial"/>
              </a:rPr>
              <a:t>Why I added this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4837176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The LLM group had fewer papers than the other themes.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It directly evaluates LLMs on biomedical NLP benchmark tasks.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It supports careful testing of LLM outputs instead of assuming they are reliable.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240280"/>
            <a:ext cx="5166360" cy="1874519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350008"/>
            <a:ext cx="494690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1">
                <a:solidFill>
                  <a:srgbClr val="A00050"/>
                </a:solidFill>
                <a:latin typeface="Arial"/>
              </a:rPr>
              <a:t>Main contribution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743200"/>
            <a:ext cx="4837176" cy="12801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Evaluates 4 popular LLMs.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Covers 6 biomedical task types.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Uses 26 biomedical datasets.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Shows that LLM performance varies depending on the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97679"/>
            <a:ext cx="228600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 dirty="0">
                <a:solidFill>
                  <a:srgbClr val="000000"/>
                </a:solidFill>
                <a:latin typeface="Arial"/>
              </a:rPr>
              <a:t>Relevance to my project: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956048"/>
            <a:ext cx="10058400" cy="8229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220" b="0">
                <a:solidFill>
                  <a:srgbClr val="111111"/>
                </a:solidFill>
                <a:latin typeface="Arial"/>
              </a:defRPr>
            </a:pPr>
            <a:r>
              <a:rPr dirty="0"/>
              <a:t>• Strengthens the LLM-based comparison side of the literature review.</a:t>
            </a:r>
          </a:p>
          <a:p>
            <a:pPr>
              <a:spcAft>
                <a:spcPts val="500"/>
              </a:spcAft>
              <a:defRPr sz="1220" b="0">
                <a:solidFill>
                  <a:srgbClr val="111111"/>
                </a:solidFill>
                <a:latin typeface="Arial"/>
              </a:defRPr>
            </a:pPr>
            <a:r>
              <a:rPr dirty="0"/>
              <a:t>• Supports the need to compare LLM extraction with fine-tuned biomedical models.</a:t>
            </a:r>
          </a:p>
          <a:p>
            <a:pPr>
              <a:spcAft>
                <a:spcPts val="500"/>
              </a:spcAft>
              <a:defRPr sz="1220" b="0">
                <a:solidFill>
                  <a:srgbClr val="111111"/>
                </a:solidFill>
                <a:latin typeface="Arial"/>
              </a:defRPr>
            </a:pPr>
            <a:r>
              <a:rPr dirty="0"/>
              <a:t>• Reinforces the use of Precision, Recall, and F1-score for fair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500" b="1">
                <a:solidFill>
                  <a:srgbClr val="111111"/>
                </a:solidFill>
                <a:latin typeface="Arial"/>
              </a:rPr>
              <a:t>Simple Input vs Outcome Understanding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691640"/>
          <a:ext cx="11018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Paper type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Examples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Input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Outcome</a:t>
                      </a:r>
                    </a:p>
                  </a:txBody>
                  <a:tcPr marL="45720" marR="45720" marT="27432" marB="27432">
                    <a:solidFill>
                      <a:srgbClr val="A00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Dataset / benchmark papers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S2ORC, BioRED, S2AND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Scientific or biomedical text/data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Dataset or benchmark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Model / method papers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BioBERT, PubMedBERT, DyGIE++, EMBRE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Text corpora or labelled datasets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Extraction model or method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1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LLM-based papers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Zhang et al., Arsenyan et al., Jahan et al.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Biomedical text or benchmark datasets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019" b="0">
                          <a:solidFill>
                            <a:srgbClr val="111111"/>
                          </a:solidFill>
                          <a:latin typeface="Arial"/>
                        </a:defRPr>
                      </a:pPr>
                      <a:r>
                        <a:t>LLM evaluation or extraction approach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" y="4315968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>
                <a:solidFill>
                  <a:srgbClr val="111111"/>
                </a:solidFill>
                <a:latin typeface="Arial"/>
              </a:rPr>
              <a:t>Example: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45152"/>
            <a:ext cx="10241280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111111"/>
                </a:solidFill>
                <a:latin typeface="Arial"/>
              </a:defRPr>
            </a:pPr>
            <a:r>
              <a:t>• In Luo et al. (2022), BioRED is the outcome because the authors created the dataset.</a:t>
            </a:r>
          </a:p>
          <a:p>
            <a:pPr>
              <a:spcAft>
                <a:spcPts val="500"/>
              </a:spcAft>
              <a:defRPr sz="1250" b="0">
                <a:solidFill>
                  <a:srgbClr val="111111"/>
                </a:solidFill>
                <a:latin typeface="Arial"/>
              </a:defRPr>
            </a:pPr>
            <a:r>
              <a:t>• In my project, BioRED becomes the input because I use it as the labelled benchmark for evaluation.</a:t>
            </a:r>
          </a:p>
          <a:p>
            <a:pPr>
              <a:spcAft>
                <a:spcPts val="500"/>
              </a:spcAft>
              <a:defRPr sz="1250" b="0">
                <a:solidFill>
                  <a:srgbClr val="111111"/>
                </a:solidFill>
                <a:latin typeface="Arial"/>
              </a:defRPr>
            </a:pPr>
            <a:r>
              <a:t>• This helps show how each paper contributes to my own methodology.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500" b="1">
                <a:solidFill>
                  <a:srgbClr val="111111"/>
                </a:solidFill>
                <a:latin typeface="Arial"/>
              </a:rPr>
              <a:t>Updated Methodology: Two Parallel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27632"/>
            <a:ext cx="10424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50" b="0">
                <a:solidFill>
                  <a:srgbClr val="555555"/>
                </a:solidFill>
                <a:latin typeface="Arial"/>
              </a:rPr>
              <a:t>Both pipelines will use the same BioRED dataset and the same evaluation metrics.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148840"/>
            <a:ext cx="5166360" cy="2697480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258568"/>
            <a:ext cx="494690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1">
                <a:solidFill>
                  <a:srgbClr val="A00050"/>
                </a:solidFill>
                <a:latin typeface="Arial"/>
              </a:rPr>
              <a:t>Pipeline 1: Fine-Tuned Biomedical Transformer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51760"/>
            <a:ext cx="4837176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Use BioRED abstracts.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Apply BioBERT or PubMedBERT.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Extract biomedical entities.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Extract relations between entities.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Compare predictions with BioRED gold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148840"/>
            <a:ext cx="5166360" cy="2697480"/>
          </a:xfrm>
          <a:prstGeom prst="roundRect">
            <a:avLst/>
          </a:prstGeom>
          <a:solidFill>
            <a:srgbClr val="FAFAF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2258568"/>
            <a:ext cx="4946904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1">
                <a:solidFill>
                  <a:srgbClr val="A00050"/>
                </a:solidFill>
                <a:latin typeface="Arial"/>
              </a:rPr>
              <a:t>Pipeline 2: LLM Prompt-Based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2651760"/>
            <a:ext cx="4837176" cy="2103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Use the same BioRED abstracts.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Design structured zero-shot/few-shot prompts.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Extract entities and relations.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Convert output into structured format.</a:t>
            </a:r>
          </a:p>
          <a:p>
            <a:pPr>
              <a:spcAft>
                <a:spcPts val="500"/>
              </a:spcAft>
              <a:defRPr sz="1130" b="0">
                <a:solidFill>
                  <a:srgbClr val="111111"/>
                </a:solidFill>
                <a:latin typeface="Arial"/>
              </a:defRPr>
            </a:pPr>
            <a:r>
              <a:t>• Compare output with BioRED gold labels.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257800"/>
            <a:ext cx="749807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500" b="1">
                <a:solidFill>
                  <a:srgbClr val="A00050"/>
                </a:solidFill>
                <a:latin typeface="Arial"/>
              </a:rPr>
              <a:t>Same BioRED dataset + same metrics = fair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78992"/>
            <a:ext cx="1060704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2500" b="1">
                <a:solidFill>
                  <a:srgbClr val="111111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83080"/>
            <a:ext cx="10515600" cy="3200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111111"/>
                </a:solidFill>
                <a:latin typeface="Arial"/>
              </a:defRPr>
            </a:pPr>
            <a:r>
              <a:t>• Select a small BioRED sample for initial testing.</a:t>
            </a:r>
          </a:p>
          <a:p>
            <a:pPr>
              <a:spcAft>
                <a:spcPts val="500"/>
              </a:spcAft>
              <a:defRPr sz="1450" b="0">
                <a:solidFill>
                  <a:srgbClr val="111111"/>
                </a:solidFill>
                <a:latin typeface="Arial"/>
              </a:defRPr>
            </a:pPr>
            <a:r>
              <a:t>• Prepare preprocessing for abstracts, entities, and relation labels.</a:t>
            </a:r>
          </a:p>
          <a:p>
            <a:pPr>
              <a:spcAft>
                <a:spcPts val="500"/>
              </a:spcAft>
              <a:defRPr sz="1450" b="0">
                <a:solidFill>
                  <a:srgbClr val="111111"/>
                </a:solidFill>
                <a:latin typeface="Arial"/>
              </a:defRPr>
            </a:pPr>
            <a:r>
              <a:t>• Test one biomedical transformer model first.</a:t>
            </a:r>
          </a:p>
          <a:p>
            <a:pPr>
              <a:spcAft>
                <a:spcPts val="500"/>
              </a:spcAft>
              <a:defRPr sz="1450" b="0">
                <a:solidFill>
                  <a:srgbClr val="111111"/>
                </a:solidFill>
                <a:latin typeface="Arial"/>
              </a:defRPr>
            </a:pPr>
            <a:r>
              <a:t>• Design structured prompts for the LLM-based pipeline.</a:t>
            </a:r>
          </a:p>
          <a:p>
            <a:pPr>
              <a:spcAft>
                <a:spcPts val="500"/>
              </a:spcAft>
              <a:defRPr sz="1450" b="0">
                <a:solidFill>
                  <a:srgbClr val="111111"/>
                </a:solidFill>
                <a:latin typeface="Arial"/>
              </a:defRPr>
            </a:pPr>
            <a:r>
              <a:t>• Compare extracted outputs with BioRED gold labels.</a:t>
            </a:r>
          </a:p>
          <a:p>
            <a:pPr>
              <a:spcAft>
                <a:spcPts val="500"/>
              </a:spcAft>
              <a:defRPr sz="1450" b="0">
                <a:solidFill>
                  <a:srgbClr val="111111"/>
                </a:solidFill>
                <a:latin typeface="Arial"/>
              </a:defRPr>
            </a:pPr>
            <a:r>
              <a:t>• Evaluate using Precision, Recall, and F1-score.</a:t>
            </a:r>
          </a:p>
          <a:p>
            <a:pPr>
              <a:spcAft>
                <a:spcPts val="500"/>
              </a:spcAft>
              <a:defRPr sz="1450" b="0">
                <a:solidFill>
                  <a:srgbClr val="111111"/>
                </a:solidFill>
                <a:latin typeface="Arial"/>
              </a:defRPr>
            </a:pPr>
            <a:r>
              <a:t>• Store final extracted entities and relations in Neo4j.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257800"/>
            <a:ext cx="99669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>
                <a:solidFill>
                  <a:srgbClr val="111111"/>
                </a:solidFill>
                <a:latin typeface="Arial"/>
              </a:rPr>
              <a:t>The next stage is implementation and early experimental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69880" y="5989320"/>
            <a:ext cx="1097280" cy="4114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900" b="1">
                <a:solidFill>
                  <a:srgbClr val="444444"/>
                </a:solidFill>
                <a:latin typeface="Arial"/>
              </a:rPr>
              <a:t>University
ofGalway.ie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071616"/>
            <a:ext cx="228600" cy="18288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795</Words>
  <Application>Microsoft Macintosh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Galway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LLMs and Fine-Tuned Transformer-Based Models for Biomedical NER and Relation Extraction for Knowledge Graph Construction</dc:title>
  <dc:subject>Capstone Literature Review and Methodology</dc:subject>
  <dc:creator>OpenAI</dc:creator>
  <cp:lastModifiedBy>Milan, Mridul</cp:lastModifiedBy>
  <cp:revision>5</cp:revision>
  <dcterms:created xsi:type="dcterms:W3CDTF">2026-05-24T09:38:34Z</dcterms:created>
  <dcterms:modified xsi:type="dcterms:W3CDTF">2026-06-05T10:30:23Z</dcterms:modified>
</cp:coreProperties>
</file>