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638"/>
  </p:normalViewPr>
  <p:slideViewPr>
    <p:cSldViewPr>
      <p:cViewPr varScale="1">
        <p:scale>
          <a:sx n="113" d="100"/>
          <a:sy n="113" d="100"/>
        </p:scale>
        <p:origin x="352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4C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004C7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4C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004C7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4C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4C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92036"/>
            <a:ext cx="12192635" cy="165735"/>
          </a:xfrm>
          <a:custGeom>
            <a:avLst/>
            <a:gdLst/>
            <a:ahLst/>
            <a:cxnLst/>
            <a:rect l="l" t="t" r="r" b="b"/>
            <a:pathLst>
              <a:path w="12192635" h="165734">
                <a:moveTo>
                  <a:pt x="0" y="165239"/>
                </a:moveTo>
                <a:lnTo>
                  <a:pt x="12192114" y="165239"/>
                </a:lnTo>
                <a:lnTo>
                  <a:pt x="12192114" y="0"/>
                </a:lnTo>
                <a:lnTo>
                  <a:pt x="0" y="0"/>
                </a:lnTo>
                <a:lnTo>
                  <a:pt x="0" y="165239"/>
                </a:lnTo>
                <a:close/>
              </a:path>
            </a:pathLst>
          </a:custGeom>
          <a:solidFill>
            <a:srgbClr val="A60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5285" y="5852883"/>
            <a:ext cx="1573199" cy="11447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95996" y="6010922"/>
            <a:ext cx="1572844" cy="16451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591" y="5728003"/>
            <a:ext cx="567675" cy="5652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2940" y="642137"/>
            <a:ext cx="8882380" cy="61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4C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0259" y="1549691"/>
            <a:ext cx="10687050" cy="3236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004C7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11103" y="6180536"/>
            <a:ext cx="20192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57281" y="4571276"/>
            <a:ext cx="1734820" cy="2287270"/>
          </a:xfrm>
          <a:custGeom>
            <a:avLst/>
            <a:gdLst/>
            <a:ahLst/>
            <a:cxnLst/>
            <a:rect l="l" t="t" r="r" b="b"/>
            <a:pathLst>
              <a:path w="1734820" h="2287270">
                <a:moveTo>
                  <a:pt x="1734819" y="0"/>
                </a:moveTo>
                <a:lnTo>
                  <a:pt x="0" y="0"/>
                </a:lnTo>
                <a:lnTo>
                  <a:pt x="0" y="2286723"/>
                </a:lnTo>
                <a:lnTo>
                  <a:pt x="1734819" y="2286723"/>
                </a:lnTo>
                <a:lnTo>
                  <a:pt x="1734819" y="0"/>
                </a:lnTo>
                <a:close/>
              </a:path>
            </a:pathLst>
          </a:custGeom>
          <a:solidFill>
            <a:srgbClr val="82003C"/>
          </a:solidFill>
        </p:spPr>
        <p:txBody>
          <a:bodyPr wrap="square" lIns="0" tIns="0" rIns="0" bIns="0" rtlCol="0"/>
          <a:lstStyle/>
          <a:p>
            <a:pPr algn="l"/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05004" y="4571276"/>
            <a:ext cx="4660265" cy="2287270"/>
          </a:xfrm>
          <a:prstGeom prst="rect">
            <a:avLst/>
          </a:prstGeom>
          <a:solidFill>
            <a:srgbClr val="A6004F"/>
          </a:solidFill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119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</a:pPr>
            <a:r>
              <a:rPr sz="1600" spc="-10" dirty="0">
                <a:solidFill>
                  <a:srgbClr val="232323"/>
                </a:solidFill>
                <a:latin typeface="Calibri"/>
                <a:cs typeface="Lucida Sans Unicode"/>
              </a:rPr>
              <a:t>University</a:t>
            </a:r>
            <a:endParaRPr sz="1600" dirty="0">
              <a:latin typeface="Lucida Sans Unicode"/>
              <a:cs typeface="Lucida Sans Unicode"/>
            </a:endParaRPr>
          </a:p>
          <a:p>
            <a:pPr algn="l">
              <a:lnSpc>
                <a:spcPct val="100000"/>
              </a:lnSpc>
              <a:spcBef>
                <a:spcPts val="125"/>
              </a:spcBef>
            </a:pPr>
            <a:r>
              <a:rPr lang="en-IN" sz="1600" i="1" spc="-10" dirty="0">
                <a:solidFill>
                  <a:srgbClr val="232323"/>
                </a:solidFill>
                <a:latin typeface="Calibri"/>
                <a:cs typeface="Roboto"/>
              </a:rPr>
              <a:t>o</a:t>
            </a:r>
            <a:r>
              <a:rPr sz="1600" i="1" spc="-10" dirty="0" err="1">
                <a:solidFill>
                  <a:srgbClr val="232323"/>
                </a:solidFill>
                <a:latin typeface="Calibri"/>
                <a:cs typeface="Roboto"/>
              </a:rPr>
              <a:t>f</a:t>
            </a:r>
            <a:r>
              <a:rPr sz="1600" spc="-10" dirty="0" err="1">
                <a:solidFill>
                  <a:srgbClr val="232323"/>
                </a:solidFill>
                <a:latin typeface="Calibri"/>
                <a:cs typeface="Lucida Sans Unicode"/>
              </a:rPr>
              <a:t>Galway.ie</a:t>
            </a:r>
            <a:endParaRPr sz="16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95285" y="700201"/>
            <a:ext cx="1574165" cy="322580"/>
            <a:chOff x="1295285" y="700201"/>
            <a:chExt cx="1574165" cy="3225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285" y="700201"/>
              <a:ext cx="1573199" cy="1141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996" y="857884"/>
              <a:ext cx="1572844" cy="16451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91" y="574965"/>
            <a:ext cx="567675" cy="56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05347" y="12"/>
            <a:ext cx="6386398" cy="457090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57719" y="1548765"/>
            <a:ext cx="4660264" cy="2321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Comparing</a:t>
            </a:r>
            <a:r>
              <a:rPr sz="2500" b="1" spc="-6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LLMs</a:t>
            </a:r>
            <a:r>
              <a:rPr sz="2500" b="1" spc="-6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and</a:t>
            </a:r>
            <a:r>
              <a:rPr sz="2500" b="1" spc="-6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spc="-10" dirty="0">
                <a:solidFill>
                  <a:srgbClr val="000000"/>
                </a:solidFill>
                <a:latin typeface="Calibri"/>
                <a:cs typeface="Arial"/>
              </a:rPr>
              <a:t>Fine-Tuned</a:t>
            </a:r>
            <a:r>
              <a:rPr sz="2500" b="1" spc="-125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spc="-10" dirty="0">
                <a:solidFill>
                  <a:srgbClr val="000000"/>
                </a:solidFill>
                <a:latin typeface="Calibri"/>
                <a:cs typeface="Arial"/>
              </a:rPr>
              <a:t>Transformer</a:t>
            </a:r>
            <a:r>
              <a:rPr sz="2500" b="1" spc="-13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Models</a:t>
            </a:r>
            <a:r>
              <a:rPr sz="2500" b="1" spc="-125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spc="-25" dirty="0">
                <a:solidFill>
                  <a:srgbClr val="000000"/>
                </a:solidFill>
                <a:latin typeface="Calibri"/>
                <a:cs typeface="Arial"/>
              </a:rPr>
              <a:t>for </a:t>
            </a: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Named</a:t>
            </a:r>
            <a:r>
              <a:rPr sz="2500" b="1" spc="-95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Entity</a:t>
            </a:r>
            <a:r>
              <a:rPr sz="2500" b="1" spc="-9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Recognition</a:t>
            </a:r>
            <a:r>
              <a:rPr sz="2500" b="1" spc="-95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spc="-25" dirty="0">
                <a:solidFill>
                  <a:srgbClr val="000000"/>
                </a:solidFill>
                <a:latin typeface="Calibri"/>
                <a:cs typeface="Arial"/>
              </a:rPr>
              <a:t>and </a:t>
            </a: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Relation</a:t>
            </a:r>
            <a:r>
              <a:rPr sz="2500" b="1" spc="-10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Extraction</a:t>
            </a:r>
            <a:r>
              <a:rPr sz="2500" b="1" spc="-10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spc="-35" dirty="0">
                <a:solidFill>
                  <a:srgbClr val="000000"/>
                </a:solidFill>
                <a:latin typeface="Calibri"/>
                <a:cs typeface="Arial"/>
              </a:rPr>
              <a:t>in </a:t>
            </a: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Biomedical</a:t>
            </a:r>
            <a:r>
              <a:rPr sz="2500" b="1" spc="-11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dirty="0">
                <a:solidFill>
                  <a:srgbClr val="000000"/>
                </a:solidFill>
                <a:latin typeface="Calibri"/>
                <a:cs typeface="Arial"/>
              </a:rPr>
              <a:t>Knowledge</a:t>
            </a:r>
            <a:r>
              <a:rPr sz="2500" b="1" spc="-105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sz="2500" b="1" spc="-10" dirty="0">
                <a:solidFill>
                  <a:srgbClr val="000000"/>
                </a:solidFill>
                <a:latin typeface="Calibri"/>
                <a:cs typeface="Arial"/>
              </a:rPr>
              <a:t>Graph Construction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E12E99-80DF-35CC-3DA9-F4ACFBFF889A}"/>
              </a:ext>
            </a:extLst>
          </p:cNvPr>
          <p:cNvSpPr txBox="1"/>
          <p:nvPr/>
        </p:nvSpPr>
        <p:spPr>
          <a:xfrm>
            <a:off x="3034777" y="6019800"/>
            <a:ext cx="27334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dirty="0">
                <a:solidFill>
                  <a:srgbClr val="000000"/>
                </a:solidFill>
                <a:latin typeface="Calibri"/>
              </a:rPr>
              <a:t>Name: Mridul Milan</a:t>
            </a:r>
          </a:p>
          <a:p>
            <a:pPr algn="l"/>
            <a:r>
              <a:rPr lang="en-US" sz="1500" dirty="0">
                <a:solidFill>
                  <a:srgbClr val="000000"/>
                </a:solidFill>
                <a:latin typeface="Calibri"/>
              </a:rPr>
              <a:t>Student ID:25234387</a:t>
            </a:r>
          </a:p>
          <a:p>
            <a:pPr algn="l"/>
            <a:r>
              <a:rPr lang="en-US" sz="1500" dirty="0">
                <a:solidFill>
                  <a:srgbClr val="000000"/>
                </a:solidFill>
                <a:latin typeface="Calibri"/>
              </a:rPr>
              <a:t>Supervisor: Peter Paul </a:t>
            </a:r>
            <a:r>
              <a:rPr lang="en-US" sz="1500" dirty="0" err="1">
                <a:solidFill>
                  <a:srgbClr val="000000"/>
                </a:solidFill>
                <a:latin typeface="Calibri"/>
              </a:rPr>
              <a:t>Buitelaar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3652F2-40E4-F8E1-0A2E-3B37B9106341}"/>
              </a:ext>
            </a:extLst>
          </p:cNvPr>
          <p:cNvSpPr txBox="1"/>
          <p:nvPr/>
        </p:nvSpPr>
        <p:spPr>
          <a:xfrm>
            <a:off x="555780" y="4235023"/>
            <a:ext cx="398057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2100" b="1" dirty="0">
                <a:solidFill>
                  <a:srgbClr val="000000"/>
                </a:solidFill>
                <a:latin typeface="Calibri"/>
                <a:cs typeface="Arial"/>
              </a:rPr>
              <a:t>Literature Review Report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40" y="642137"/>
            <a:ext cx="888238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0000"/>
                </a:solidFill>
                <a:latin typeface="Calibri"/>
                <a:cs typeface="Arial Black"/>
              </a:rPr>
              <a:t>Project Background and Research Objective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4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32421" y="1862543"/>
            <a:ext cx="1943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1450000"/>
            <a:ext cx="10600000" cy="4300000"/>
          </a:xfrm>
          <a:prstGeom prst="rect">
            <a:avLst/>
          </a:prstGeom>
        </p:spPr>
        <p:txBody>
          <a:bodyPr vert="horz" wrap="square" lIns="50800" tIns="25400" rIns="50800" bIns="2540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Problem</a:t>
            </a:r>
            <a:endParaRPr sz="2200">
              <a:latin typeface="Arial Black"/>
              <a:cs typeface="Arial Black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232323"/>
                </a:solidFill>
                <a:latin typeface="Calibri"/>
              </a:rPr>
              <a:t>Biomedical research abstracts contain large amounts of useful information, including diseases, genes, chemicals and their relationships, but this knowledge is embedded in unstructured text.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232323"/>
                </a:solidFill>
                <a:latin typeface="Calibri"/>
              </a:rPr>
              <a:t>Manual extraction is slow, difficult to scale and unsuitable for constructing large, continuously updated knowledge resources.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Research Objective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232323"/>
                </a:solidFill>
                <a:latin typeface="Calibri"/>
              </a:rPr>
              <a:t>Compare a fine-tuned biomedical transformer pipeline with an LLM prompt-based pipeline for Named Entity Recognition and relation extraction.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232323"/>
                </a:solidFill>
                <a:latin typeface="Calibri"/>
              </a:rPr>
              <a:t>Evaluate both approaches on the same BioRED data using Precision, Recall and F1-score, then examine their suitability for biomedical knowledge graph construction.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40" y="642137"/>
            <a:ext cx="888238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IN" sz="2500" b="1" dirty="0">
                <a:solidFill>
                  <a:srgbClr val="000000"/>
                </a:solidFill>
                <a:latin typeface="Calibri"/>
                <a:cs typeface="Arial Black"/>
              </a:rPr>
              <a:t>Evolution of the Literature Review</a:t>
            </a:r>
            <a:endParaRPr sz="2500" b="1" dirty="0">
              <a:solidFill>
                <a:srgbClr val="000000"/>
              </a:solidFill>
              <a:latin typeface="Calibri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125200" y="6172200"/>
            <a:ext cx="201929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4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10259" y="1450000"/>
            <a:ext cx="10600000" cy="4062651"/>
          </a:xfrm>
          <a:prstGeom prst="rect">
            <a:avLst/>
          </a:prstGeom>
        </p:spPr>
        <p:txBody>
          <a:bodyPr vert="horz" wrap="square" lIns="50800" tIns="25400" rIns="50800" bIns="25400" rtlCol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000" b="1" dirty="0">
                <a:solidFill>
                  <a:srgbClr val="000000"/>
                </a:solidFill>
                <a:latin typeface="Calibri"/>
              </a:rPr>
              <a:t>Initial scientific extraction foundation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b="0" dirty="0">
                <a:solidFill>
                  <a:srgbClr val="232323"/>
                </a:solidFill>
                <a:latin typeface="Calibri"/>
              </a:rPr>
              <a:t>S2ORC introduced large-scale scientific text and metadata.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b="0" dirty="0">
                <a:solidFill>
                  <a:srgbClr val="232323"/>
                </a:solidFill>
                <a:latin typeface="Calibri"/>
              </a:rPr>
              <a:t>Luan et al. and Wadden et al. showed how entities and relations can be extracted from scientific text. 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b="0" dirty="0">
                <a:solidFill>
                  <a:srgbClr val="232323"/>
                </a:solidFill>
                <a:latin typeface="Calibri"/>
              </a:rPr>
              <a:t>These studies established the original knowledge graph direction.</a:t>
            </a:r>
            <a:endParaRPr sz="1800" b="0" dirty="0">
              <a:solidFill>
                <a:srgbClr val="232323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 b="1" dirty="0">
                <a:solidFill>
                  <a:srgbClr val="000000"/>
                </a:solidFill>
                <a:latin typeface="Calibri"/>
              </a:rPr>
              <a:t>Inclusion </a:t>
            </a:r>
            <a:r>
              <a:rPr lang="en-IN" sz="2000" b="1" dirty="0">
                <a:solidFill>
                  <a:srgbClr val="000000"/>
                </a:solidFill>
                <a:latin typeface="Calibri"/>
              </a:rPr>
              <a:t>Shift to biomedical information extraction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b="0" dirty="0" err="1">
                <a:solidFill>
                  <a:srgbClr val="232323"/>
                </a:solidFill>
                <a:latin typeface="Calibri"/>
              </a:rPr>
              <a:t>BioBERT</a:t>
            </a:r>
            <a:r>
              <a:rPr lang="en-IN" sz="1800" b="0" dirty="0">
                <a:solidFill>
                  <a:srgbClr val="232323"/>
                </a:solidFill>
                <a:latin typeface="Calibri"/>
              </a:rPr>
              <a:t> and </a:t>
            </a:r>
            <a:r>
              <a:rPr lang="en-IN" sz="1800" b="0" dirty="0" err="1">
                <a:solidFill>
                  <a:srgbClr val="232323"/>
                </a:solidFill>
                <a:latin typeface="Calibri"/>
              </a:rPr>
              <a:t>PubMedBERT</a:t>
            </a:r>
            <a:r>
              <a:rPr lang="en-IN" sz="1800" b="0" dirty="0">
                <a:solidFill>
                  <a:srgbClr val="232323"/>
                </a:solidFill>
                <a:latin typeface="Calibri"/>
              </a:rPr>
              <a:t> demonstrated the value of biomedical domain-specific pretraining. 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b="0" dirty="0" err="1">
                <a:solidFill>
                  <a:srgbClr val="232323"/>
                </a:solidFill>
                <a:latin typeface="Calibri"/>
              </a:rPr>
              <a:t>BioRED</a:t>
            </a:r>
            <a:r>
              <a:rPr lang="en-IN" sz="1800" b="0" dirty="0">
                <a:solidFill>
                  <a:srgbClr val="232323"/>
                </a:solidFill>
                <a:latin typeface="Calibri"/>
              </a:rPr>
              <a:t> provided labelled biomedical entities and relations. 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b="0" dirty="0">
                <a:solidFill>
                  <a:srgbClr val="232323"/>
                </a:solidFill>
                <a:latin typeface="Calibri"/>
              </a:rPr>
              <a:t>EMBRE supported the relation extraction component.</a:t>
            </a:r>
            <a:endParaRPr lang="en-US" sz="1800" b="0" dirty="0">
              <a:solidFill>
                <a:srgbClr val="232323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IN" sz="2000" b="1" dirty="0">
                <a:solidFill>
                  <a:srgbClr val="000000"/>
                </a:solidFill>
                <a:latin typeface="Calibri"/>
              </a:rPr>
              <a:t>Introduction of LLM-based extraction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232323"/>
                </a:solidFill>
                <a:latin typeface="Calibri"/>
              </a:rPr>
              <a:t>Recent studies showed that LLMs can perform biomedical extraction through prompting. 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232323"/>
                </a:solidFill>
                <a:latin typeface="Calibri"/>
              </a:rPr>
              <a:t>However, output consistency and reliability remain important concerns.</a:t>
            </a:r>
            <a:endParaRPr sz="1800" b="0" dirty="0">
              <a:solidFill>
                <a:srgbClr val="23232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1450000"/>
            <a:ext cx="10600000" cy="4300000"/>
          </a:xfrm>
          <a:prstGeom prst="rect">
            <a:avLst/>
          </a:prstGeom>
        </p:spPr>
        <p:txBody>
          <a:bodyPr vert="horz" wrap="square" lIns="50800" tIns="25400" rIns="50800" bIns="2540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Fine-Tuned Biomedical Models</a:t>
            </a:r>
            <a:endParaRPr sz="2100">
              <a:latin typeface="Arial Black"/>
              <a:cs typeface="Arial Black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Provide controlled, task-specific predictions and benefit from domain-specific pretraining, but depend on labelled data, training time and computational resources.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LLM Prompt-Based Extraction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Supports zero-shot or few-shot extraction with less task-specific training, but outputs can vary in wording, format, entity boundaries and relation labels.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Comparative Insight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The literature usually evaluates supervised biomedical models and LLMs separately. A meaningful comparison therefore requires the same input abstracts, annotation schema, gold labels and evaluation metrics.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Overall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Neither approach is automatically superior: fine-tuned models prioritise control and reproducibility, whereas LLMs prioritise flexibility and reduced training effort.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25200" y="6160318"/>
            <a:ext cx="159576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4"/>
              </a:lnSpc>
            </a:pPr>
            <a:r>
              <a:rPr lang="en-IN" sz="1600" spc="-50" dirty="0"/>
              <a:t>4</a:t>
            </a:r>
          </a:p>
          <a:p>
            <a:pPr>
              <a:lnSpc>
                <a:spcPts val="1864"/>
              </a:lnSpc>
            </a:pPr>
            <a:endParaRPr sz="1600" dirty="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2940" y="642137"/>
            <a:ext cx="888238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0000"/>
                </a:solidFill>
                <a:latin typeface="Calibri"/>
                <a:cs typeface="Arial Black"/>
              </a:rPr>
              <a:t>Comparative Analysis and Key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40" y="642137"/>
            <a:ext cx="888238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0000"/>
                </a:solidFill>
                <a:latin typeface="Calibri"/>
                <a:cs typeface="Arial Black"/>
              </a:rPr>
              <a:t>Research Gap and Project Refinement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36503" y="6180536"/>
            <a:ext cx="13843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4"/>
              </a:lnSpc>
            </a:pPr>
            <a:r>
              <a:rPr lang="en-IN" sz="1600" spc="-50" dirty="0"/>
              <a:t>5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10259" y="1450000"/>
            <a:ext cx="10600000" cy="4300000"/>
          </a:xfrm>
          <a:prstGeom prst="rect">
            <a:avLst/>
          </a:prstGeom>
        </p:spPr>
        <p:txBody>
          <a:bodyPr vert="horz" wrap="square" lIns="50800" tIns="25400" rIns="50800" bIns="2540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Research Gaps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• Limited direct comparison between fine-tuned biomedical transformers and LLM-based extraction under identical experimental conditions.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• Limited evaluation of LLM output consistency, schema compliance and reliability against biomedical gold-standard annotations.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• Limited attention to how entity and relation extraction errors affect the quality of a downstream knowledge graph.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Project Refinement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The original project focused on general scientific extraction using S2ORC. The literature review refined the scope to biomedical NER and relation extraction using BioRED, enabling a fair and measurable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1450000"/>
            <a:ext cx="10250000" cy="4339650"/>
          </a:xfrm>
          <a:prstGeom prst="rect">
            <a:avLst/>
          </a:prstGeom>
        </p:spPr>
        <p:txBody>
          <a:bodyPr vert="horz" wrap="square" lIns="50800" tIns="25400" rIns="50800" bIns="2540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1900" b="1" dirty="0">
                <a:solidFill>
                  <a:srgbClr val="000000"/>
                </a:solidFill>
                <a:latin typeface="Calibri"/>
              </a:rPr>
              <a:t>Stage 1: </a:t>
            </a:r>
            <a:r>
              <a:rPr lang="en-IN" sz="1900" b="1" dirty="0" err="1">
                <a:solidFill>
                  <a:srgbClr val="000000"/>
                </a:solidFill>
                <a:latin typeface="Calibri"/>
              </a:rPr>
              <a:t>BioRED</a:t>
            </a:r>
            <a:r>
              <a:rPr lang="en-IN" sz="1900" b="1" dirty="0">
                <a:solidFill>
                  <a:srgbClr val="000000"/>
                </a:solidFill>
                <a:latin typeface="Calibri"/>
              </a:rPr>
              <a:t> Inspection — Completed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Loaded train/dev/test splits and reconstructed document text. 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Validated entity offsets across all splits with </a:t>
            </a:r>
            <a:r>
              <a:rPr lang="en-IN" sz="1600" b="1" dirty="0"/>
              <a:t>0 offset errors</a:t>
            </a:r>
            <a:r>
              <a:rPr lang="en-IN" sz="1600" dirty="0"/>
              <a:t>. 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Extracted gold relations and resolved relation references successfully.</a:t>
            </a:r>
            <a:endParaRPr lang="en-US" sz="1700" dirty="0">
              <a:solidFill>
                <a:srgbClr val="232323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1900" b="1" dirty="0">
                <a:solidFill>
                  <a:srgbClr val="000000"/>
                </a:solidFill>
                <a:latin typeface="Calibri"/>
              </a:rPr>
              <a:t>Stage 2.1: NER Preparation — Completed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Tokenised documents and aligned entity spans with tokens. 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Created BIO labels, label IDs and ignored special tokens using </a:t>
            </a:r>
            <a:r>
              <a:rPr lang="en-IN" sz="1600" b="1" dirty="0"/>
              <a:t>-100</a:t>
            </a:r>
            <a:r>
              <a:rPr lang="en-IN" sz="1600" dirty="0"/>
              <a:t>. 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Prepared NER datasets for transformer model training.</a:t>
            </a:r>
            <a:endParaRPr lang="en-IN" sz="1700" b="0" dirty="0">
              <a:solidFill>
                <a:srgbClr val="232323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IN" sz="1900" b="1" dirty="0">
                <a:solidFill>
                  <a:srgbClr val="000000"/>
                </a:solidFill>
                <a:latin typeface="Calibri"/>
              </a:rPr>
              <a:t>Stage 2.2: Relation Preparation —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Created positive relation examples and relation label IDs.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Added entity markers into relation text.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Remaining: apply markers to all splits, tokenise marked examples, save datasets, and optionally create negative examples. 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endParaRPr sz="1700" b="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2940" y="642137"/>
            <a:ext cx="627697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0000"/>
                </a:solidFill>
                <a:latin typeface="Calibri"/>
                <a:cs typeface="Arial Black"/>
              </a:rPr>
              <a:t>Implementation Results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A804B-5045-1FC4-AD3A-0C4DB36BEAB9}"/>
              </a:ext>
            </a:extLst>
          </p:cNvPr>
          <p:cNvSpPr txBox="1"/>
          <p:nvPr/>
        </p:nvSpPr>
        <p:spPr>
          <a:xfrm>
            <a:off x="11060259" y="6031965"/>
            <a:ext cx="306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pc="-50" dirty="0"/>
              <a:t>6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00CC1-8A8C-EDB6-9DE6-2E8DD878F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30B85FED-CA0B-4BF2-B3B5-88FB26EC9D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940" y="642137"/>
            <a:ext cx="627697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0000"/>
                </a:solidFill>
                <a:latin typeface="Calibri"/>
                <a:cs typeface="Arial Black"/>
              </a:rPr>
              <a:t>Implementation </a:t>
            </a:r>
            <a:r>
              <a:rPr lang="en-US" sz="2500" b="1" dirty="0">
                <a:solidFill>
                  <a:srgbClr val="000000"/>
                </a:solidFill>
                <a:latin typeface="Calibri"/>
                <a:cs typeface="Arial Black"/>
              </a:rPr>
              <a:t>Snippets</a:t>
            </a:r>
            <a:endParaRPr sz="2500" b="1" dirty="0">
              <a:solidFill>
                <a:srgbClr val="000000"/>
              </a:solidFill>
              <a:latin typeface="Calibri"/>
              <a:cs typeface="Arial Black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1D4182-F21B-0B63-773D-FC269A7C9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40" y="1238934"/>
            <a:ext cx="4735593" cy="2981413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3601D5-73B5-0221-4126-25745628E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4419600"/>
            <a:ext cx="7772400" cy="2081892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A2B93E3D-810F-28C2-2F9F-F30D4AE11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037" y="2143186"/>
            <a:ext cx="44577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74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898" y="6215863"/>
            <a:ext cx="12223898" cy="675640"/>
            <a:chOff x="-1" y="5956934"/>
            <a:chExt cx="12192635" cy="675640"/>
          </a:xfrm>
        </p:grpSpPr>
        <p:sp>
          <p:nvSpPr>
            <p:cNvPr id="3" name="object 3"/>
            <p:cNvSpPr/>
            <p:nvPr/>
          </p:nvSpPr>
          <p:spPr>
            <a:xfrm>
              <a:off x="2887560" y="5971679"/>
              <a:ext cx="674370" cy="620395"/>
            </a:xfrm>
            <a:custGeom>
              <a:avLst/>
              <a:gdLst/>
              <a:ahLst/>
              <a:cxnLst/>
              <a:rect l="l" t="t" r="r" b="b"/>
              <a:pathLst>
                <a:path w="674370" h="620395">
                  <a:moveTo>
                    <a:pt x="205562" y="0"/>
                  </a:moveTo>
                  <a:lnTo>
                    <a:pt x="0" y="0"/>
                  </a:lnTo>
                  <a:lnTo>
                    <a:pt x="471957" y="619925"/>
                  </a:lnTo>
                  <a:lnTo>
                    <a:pt x="674281" y="620280"/>
                  </a:lnTo>
                  <a:lnTo>
                    <a:pt x="205562" y="0"/>
                  </a:lnTo>
                  <a:close/>
                </a:path>
              </a:pathLst>
            </a:custGeom>
            <a:solidFill>
              <a:srgbClr val="D8C3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1" y="5972035"/>
              <a:ext cx="3362960" cy="661035"/>
            </a:xfrm>
            <a:custGeom>
              <a:avLst/>
              <a:gdLst/>
              <a:ahLst/>
              <a:cxnLst/>
              <a:rect l="l" t="t" r="r" b="b"/>
              <a:pathLst>
                <a:path w="3362960" h="661034">
                  <a:moveTo>
                    <a:pt x="2894407" y="0"/>
                  </a:moveTo>
                  <a:lnTo>
                    <a:pt x="1" y="17603"/>
                  </a:lnTo>
                  <a:lnTo>
                    <a:pt x="0" y="660505"/>
                  </a:lnTo>
                  <a:lnTo>
                    <a:pt x="3362758" y="620648"/>
                  </a:lnTo>
                  <a:lnTo>
                    <a:pt x="2894407" y="0"/>
                  </a:lnTo>
                  <a:close/>
                </a:path>
              </a:pathLst>
            </a:custGeom>
            <a:solidFill>
              <a:srgbClr val="7410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87077" y="5956934"/>
              <a:ext cx="9005570" cy="621030"/>
            </a:xfrm>
            <a:custGeom>
              <a:avLst/>
              <a:gdLst/>
              <a:ahLst/>
              <a:cxnLst/>
              <a:rect l="l" t="t" r="r" b="b"/>
              <a:pathLst>
                <a:path w="9005570" h="621029">
                  <a:moveTo>
                    <a:pt x="0" y="0"/>
                  </a:moveTo>
                  <a:lnTo>
                    <a:pt x="468718" y="620623"/>
                  </a:lnTo>
                  <a:lnTo>
                    <a:pt x="9005036" y="620623"/>
                  </a:lnTo>
                  <a:lnTo>
                    <a:pt x="9005036" y="28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997" y="6113157"/>
              <a:ext cx="1474558" cy="36468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62940" y="642137"/>
            <a:ext cx="8882380" cy="496790"/>
          </a:xfrm>
          <a:prstGeom prst="rect">
            <a:avLst/>
          </a:prstGeom>
        </p:spPr>
        <p:txBody>
          <a:bodyPr vert="horz" wrap="square" lIns="0" tIns="11098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0000"/>
                </a:solidFill>
                <a:latin typeface="Calibri"/>
              </a:rPr>
              <a:t>Final Methodology, Next Steps and Conclusion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0259" y="1450000"/>
            <a:ext cx="10300000" cy="4300000"/>
          </a:xfrm>
          <a:prstGeom prst="rect">
            <a:avLst/>
          </a:prstGeom>
        </p:spPr>
        <p:txBody>
          <a:bodyPr vert="horz" wrap="square" lIns="50800" tIns="25400" rIns="50800" bIns="2540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3E3E3E"/>
              </a:buClr>
              <a:buFont typeface="Arial MT"/>
              <a:buChar char="•"/>
              <a:tabLst>
                <a:tab pos="418465" algn="l"/>
              </a:tabLst>
            </a:pPr>
            <a:r>
              <a:rPr sz="1900" b="1">
                <a:solidFill>
                  <a:srgbClr val="000000"/>
                </a:solidFill>
                <a:latin typeface="Calibri"/>
              </a:rPr>
              <a:t>Final Comparative Methodology</a:t>
            </a:r>
            <a:endParaRPr sz="2100">
              <a:latin typeface="Calibri"/>
              <a:cs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• Pipeline 1: fine-tune a biomedical transformer such as BioBERT or PubMedBERT for entity and relation extraction.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• Pipeline 2: apply structured zero-shot or few-shot LLM prompts to the same BioRED abstracts and convert responses into a fixed schema.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• Evaluate NER and relation extraction separately using Precision, Recall and F1-score against BioRED gold labels.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Immediate Next Steps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Prepare model-ready NER labels and relation-classification instances; select the final transformer model; design fixed LLM prompts; and implement comparable output normalisation.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232323"/>
                </a:solidFill>
                <a:latin typeface="Calibri"/>
              </a:rPr>
              <a:t>The literature review established the research gap, justified the biomedical focus and directly guided the completed BioRED preprocessing work and the two-pipeline experimental design.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3373450"/>
            <a:ext cx="11938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endParaRPr sz="2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8138" y="3384257"/>
            <a:ext cx="120396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endParaRPr sz="2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84465" y="3704658"/>
            <a:ext cx="6205855" cy="99758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370"/>
              </a:spcBef>
              <a:buClr>
                <a:srgbClr val="3E3E3E"/>
              </a:buClr>
              <a:buFont typeface="Arial MT"/>
              <a:buChar char="•"/>
              <a:tabLst>
                <a:tab pos="393065" algn="l"/>
              </a:tabLst>
            </a:pPr>
            <a:endParaRPr sz="190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6048D9-F2E2-93EF-787E-BE5DD489D15D}"/>
              </a:ext>
            </a:extLst>
          </p:cNvPr>
          <p:cNvSpPr txBox="1"/>
          <p:nvPr/>
        </p:nvSpPr>
        <p:spPr>
          <a:xfrm>
            <a:off x="11111023" y="583727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3580</TotalTime>
  <Words>713</Words>
  <Application>Microsoft Macintosh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Arial MT</vt:lpstr>
      <vt:lpstr>Calibri</vt:lpstr>
      <vt:lpstr>Lucida Sans Unicode</vt:lpstr>
      <vt:lpstr>Times New Roman</vt:lpstr>
      <vt:lpstr>Office Theme</vt:lpstr>
      <vt:lpstr>PowerPoint Presentation</vt:lpstr>
      <vt:lpstr>Project Background and Research Objective</vt:lpstr>
      <vt:lpstr>Evolution of the Literature Review</vt:lpstr>
      <vt:lpstr>Comparative Analysis and Key Findings</vt:lpstr>
      <vt:lpstr>Research Gap and Project Refinement</vt:lpstr>
      <vt:lpstr>Implementation Results So Far</vt:lpstr>
      <vt:lpstr>Implementation Snippets</vt:lpstr>
      <vt:lpstr>Final Methodology, Next Steps and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</dc:creator>
  <cp:lastModifiedBy>Milan, Mridul</cp:lastModifiedBy>
  <cp:revision>5</cp:revision>
  <dcterms:created xsi:type="dcterms:W3CDTF">2026-07-05T19:11:17Z</dcterms:created>
  <dcterms:modified xsi:type="dcterms:W3CDTF">2026-07-09T07:17:49Z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2026-04-07T00:00:00Z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(X86_64) / LibreOffice Community</vt:lpwstr>
  </property>
  <property fmtid="{D5CDD505-2E9C-101B-9397-08002B2CF9AE}" pid="6" name="LastSaved">
    <vt:filetime>2026-04-07T00:00:00Z</vt:filetime>
  </property>
</Properties>
</file>