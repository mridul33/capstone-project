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0"/>
            <a:ext cx="5833872" cy="3931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55080" y="3931374"/>
            <a:ext cx="2924387" cy="2926626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011680" cy="497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0"/>
            <a:ext cx="5303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0000"/>
                </a:solidFill>
              </a:rPr>
              <a:t>Comparing LLMs and Fine-Tuned Transformer-Based Models for Biomedical Named Entity Recognition and Relation Extraction for Knowledge Graph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5965721"/>
            <a:ext cx="281275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000000"/>
                </a:solidFill>
              </a:rPr>
              <a:t>Mridul Milan</a:t>
            </a:r>
          </a:p>
          <a:p>
            <a:r>
              <a:rPr sz="1600" b="0" dirty="0">
                <a:solidFill>
                  <a:srgbClr val="000000"/>
                </a:solidFill>
              </a:rPr>
              <a:t>Student No: 25234387</a:t>
            </a:r>
          </a:p>
          <a:p>
            <a:r>
              <a:rPr sz="1600" b="0" dirty="0">
                <a:solidFill>
                  <a:srgbClr val="000000"/>
                </a:solidFill>
              </a:rPr>
              <a:t>Supervisor: Peter Paul </a:t>
            </a:r>
            <a:r>
              <a:rPr sz="1600" b="0" dirty="0" err="1">
                <a:solidFill>
                  <a:srgbClr val="000000"/>
                </a:solidFill>
              </a:rPr>
              <a:t>Buitelaar</a:t>
            </a:r>
            <a:endParaRPr sz="1600" b="0" dirty="0">
              <a:solidFill>
                <a:srgbClr val="000000"/>
              </a:solidFill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A8AC9EB-B224-AEBA-0BA2-017794615466}"/>
              </a:ext>
            </a:extLst>
          </p:cNvPr>
          <p:cNvSpPr/>
          <p:nvPr/>
        </p:nvSpPr>
        <p:spPr>
          <a:xfrm>
            <a:off x="9279467" y="3931920"/>
            <a:ext cx="2912634" cy="2926626"/>
          </a:xfrm>
          <a:custGeom>
            <a:avLst/>
            <a:gdLst/>
            <a:ahLst/>
            <a:cxnLst/>
            <a:rect l="l" t="t" r="r" b="b"/>
            <a:pathLst>
              <a:path w="1734820" h="2287270">
                <a:moveTo>
                  <a:pt x="1734819" y="0"/>
                </a:moveTo>
                <a:lnTo>
                  <a:pt x="0" y="0"/>
                </a:lnTo>
                <a:lnTo>
                  <a:pt x="0" y="2286723"/>
                </a:lnTo>
                <a:lnTo>
                  <a:pt x="1734819" y="2286723"/>
                </a:lnTo>
                <a:lnTo>
                  <a:pt x="1734819" y="0"/>
                </a:lnTo>
                <a:close/>
              </a:path>
            </a:pathLst>
          </a:custGeom>
          <a:solidFill>
            <a:srgbClr val="82003C"/>
          </a:solidFill>
        </p:spPr>
        <p:txBody>
          <a:bodyPr wrap="square" lIns="0" tIns="0" rIns="0" bIns="0" rtlCol="0"/>
          <a:lstStyle/>
          <a:p>
            <a:pPr algn="l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27428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0000"/>
                </a:solidFill>
              </a:rPr>
              <a:t>Project Progress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90" y="1143000"/>
            <a:ext cx="6443470" cy="23042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Comparative study of fine-tuned biomedical transformers and LLM-based extraction.</a:t>
            </a:r>
          </a:p>
          <a:p>
            <a:pPr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BioRED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is used as the gold-standard biomedical dataset with labelled entities and relations.</a:t>
            </a:r>
          </a:p>
          <a:p>
            <a:pPr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Current implementation focus: supervised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PubMedBERT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pipeline.</a:t>
            </a:r>
          </a:p>
          <a:p>
            <a:pPr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Stage 1 completed: dataset inspection and validation.</a:t>
            </a:r>
          </a:p>
          <a:p>
            <a:pPr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Stage 2 completed: model-ready NER and relation data preparation.</a:t>
            </a:r>
          </a:p>
          <a:p>
            <a:pPr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Stage 3.1 completed: NER fine-tuning, test evaluation, prediction inspection, and error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097280"/>
            <a:ext cx="3977639" cy="1691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53527" y="1170432"/>
            <a:ext cx="3758183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Current Status</a:t>
            </a:r>
          </a:p>
          <a:p>
            <a:r>
              <a:rPr b="0">
                <a:solidFill>
                  <a:srgbClr val="000000"/>
                </a:solidFill>
              </a:rPr>
              <a:t>• NER pipeline complete</a:t>
            </a:r>
          </a:p>
          <a:p>
            <a:r>
              <a:rPr b="0">
                <a:solidFill>
                  <a:srgbClr val="000000"/>
                </a:solidFill>
              </a:rPr>
              <a:t>• Final test F1: 86.54%</a:t>
            </a:r>
          </a:p>
          <a:p>
            <a:r>
              <a:rPr b="0">
                <a:solidFill>
                  <a:srgbClr val="000000"/>
                </a:solidFill>
              </a:rPr>
              <a:t>• Model and results saved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063240"/>
            <a:ext cx="3977639" cy="1600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7" y="3136392"/>
            <a:ext cx="3758183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Focus of This Meeting</a:t>
            </a:r>
          </a:p>
          <a:p>
            <a:r>
              <a:rPr b="0">
                <a:solidFill>
                  <a:srgbClr val="000000"/>
                </a:solidFill>
              </a:rPr>
              <a:t>• Methodology</a:t>
            </a:r>
          </a:p>
          <a:p>
            <a:r>
              <a:rPr b="0">
                <a:solidFill>
                  <a:srgbClr val="000000"/>
                </a:solidFill>
              </a:rPr>
              <a:t>• Development</a:t>
            </a:r>
          </a:p>
          <a:p>
            <a:r>
              <a:rPr b="0">
                <a:solidFill>
                  <a:srgbClr val="000000"/>
                </a:solidFill>
              </a:rPr>
              <a:t>• Experiments</a:t>
            </a:r>
          </a:p>
          <a:p>
            <a:r>
              <a:rPr b="0">
                <a:solidFill>
                  <a:srgbClr val="000000"/>
                </a:solidFill>
              </a:rPr>
              <a:t>•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800600"/>
            <a:ext cx="3977639" cy="1325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53527" y="4873752"/>
            <a:ext cx="3758183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Current Challenge</a:t>
            </a:r>
          </a:p>
          <a:p>
            <a:r>
              <a:rPr b="0">
                <a:solidFill>
                  <a:srgbClr val="000000"/>
                </a:solidFill>
              </a:rPr>
              <a:t>• Relation extraction requires careful No_Relation negative sampling and fair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1952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0000"/>
                </a:solidFill>
              </a:rPr>
              <a:t>Methodology: Two Parallel Extraction Pipelines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987552"/>
            <a:ext cx="8046720" cy="384048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b="0">
                <a:solidFill>
                  <a:srgbClr val="000000"/>
                </a:solidFill>
              </a:rPr>
              <a:t>BioRED Dataset: biomedical abstracts with gold entity and relation annotations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12080" cy="2880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499262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0000"/>
                </a:solidFill>
              </a:rPr>
              <a:t>Fine-Tuned Pipeline</a:t>
            </a:r>
          </a:p>
          <a:p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BioRED</a:t>
            </a:r>
            <a:r>
              <a:rPr b="0" dirty="0">
                <a:solidFill>
                  <a:srgbClr val="000000"/>
                </a:solidFill>
              </a:rPr>
              <a:t> text and annotations</a:t>
            </a:r>
          </a:p>
          <a:p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PubMedBERT</a:t>
            </a:r>
            <a:r>
              <a:rPr b="0" dirty="0">
                <a:solidFill>
                  <a:srgbClr val="000000"/>
                </a:solidFill>
              </a:rPr>
              <a:t> for NER</a:t>
            </a:r>
          </a:p>
          <a:p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PubMedBERT</a:t>
            </a:r>
            <a:r>
              <a:rPr b="0" dirty="0">
                <a:solidFill>
                  <a:srgbClr val="000000"/>
                </a:solidFill>
              </a:rPr>
              <a:t> for relation classification</a:t>
            </a:r>
          </a:p>
          <a:p>
            <a:r>
              <a:rPr b="0" dirty="0">
                <a:solidFill>
                  <a:srgbClr val="000000"/>
                </a:solidFill>
              </a:rPr>
              <a:t>• Convert reliable outputs into structured triples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212080" cy="2880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10512"/>
            <a:ext cx="499262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LLM Pipeline</a:t>
            </a:r>
          </a:p>
          <a:p>
            <a:r>
              <a:rPr b="0">
                <a:solidFill>
                  <a:srgbClr val="000000"/>
                </a:solidFill>
              </a:rPr>
              <a:t>• Use the same BioRED text</a:t>
            </a:r>
          </a:p>
          <a:p>
            <a:r>
              <a:rPr b="0">
                <a:solidFill>
                  <a:srgbClr val="000000"/>
                </a:solidFill>
              </a:rPr>
              <a:t>• Apply structured prompts</a:t>
            </a:r>
          </a:p>
          <a:p>
            <a:r>
              <a:rPr b="0">
                <a:solidFill>
                  <a:srgbClr val="000000"/>
                </a:solidFill>
              </a:rPr>
              <a:t>• Extract entities and relation triples</a:t>
            </a:r>
          </a:p>
          <a:p>
            <a:r>
              <a:rPr b="0">
                <a:solidFill>
                  <a:srgbClr val="000000"/>
                </a:solidFill>
              </a:rPr>
              <a:t>• Post-process outputs for fair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983480"/>
            <a:ext cx="8229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b="0">
                <a:solidFill>
                  <a:srgbClr val="000000"/>
                </a:solidFill>
              </a:rPr>
              <a:t>Evaluation: same test data and metrics — Precision, Recall, and F1-score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5623560"/>
            <a:ext cx="8229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b="0">
                <a:solidFill>
                  <a:srgbClr val="000000"/>
                </a:solidFill>
              </a:rPr>
              <a:t>Final Output: biomedical entities and relations stored in a Neo4j knowledge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36339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0000"/>
                </a:solidFill>
              </a:rPr>
              <a:t>Development Progress: </a:t>
            </a:r>
            <a:r>
              <a:rPr sz="2000" b="1" dirty="0" err="1">
                <a:solidFill>
                  <a:srgbClr val="000000"/>
                </a:solidFill>
              </a:rPr>
              <a:t>BioRED</a:t>
            </a:r>
            <a:r>
              <a:rPr sz="2000" b="1" dirty="0">
                <a:solidFill>
                  <a:srgbClr val="000000"/>
                </a:solidFill>
              </a:rPr>
              <a:t> Data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7916" y="1978185"/>
            <a:ext cx="662940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Loaded the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BioRED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train, development, and test splits.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Reconstructed complete document text from title and abstract passages.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Validated entity character offsets and relation references.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Tokenised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documents using the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PubMedBERT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tokenizer.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Aligned gold entity spans with tokens and converted them into BIO labels.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All annotated entities were successfully aligned with zero mismatches.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882968"/>
              </p:ext>
            </p:extLst>
          </p:nvPr>
        </p:nvGraphicFramePr>
        <p:xfrm>
          <a:off x="7635240" y="854964"/>
          <a:ext cx="388620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0000"/>
                          </a:solidFill>
                        </a:rPr>
                        <a:t>Split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0000"/>
                          </a:solidFill>
                        </a:rPr>
                        <a:t>Documents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000000"/>
                          </a:solidFill>
                        </a:rPr>
                        <a:t>Aligned Entities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Train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400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13,351 / 13,351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Development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3,533 / 3,533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Test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dirty="0">
                          <a:solidFill>
                            <a:srgbClr val="000000"/>
                          </a:solidFill>
                        </a:rPr>
                        <a:t>3,535 / 3,535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0160" y="3408426"/>
            <a:ext cx="3886200" cy="1554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9888" y="3543187"/>
            <a:ext cx="366674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0000"/>
                </a:solidFill>
              </a:rPr>
              <a:t>Why this matters</a:t>
            </a:r>
          </a:p>
          <a:p>
            <a:r>
              <a:rPr b="0" dirty="0">
                <a:solidFill>
                  <a:srgbClr val="000000"/>
                </a:solidFill>
              </a:rPr>
              <a:t>• Prevents incorrect BIO labels</a:t>
            </a:r>
          </a:p>
          <a:p>
            <a:r>
              <a:rPr b="0" dirty="0">
                <a:solidFill>
                  <a:srgbClr val="000000"/>
                </a:solidFill>
              </a:rPr>
              <a:t>• Confirms annotation quality</a:t>
            </a:r>
          </a:p>
          <a:p>
            <a:r>
              <a:rPr b="0" dirty="0">
                <a:solidFill>
                  <a:srgbClr val="000000"/>
                </a:solidFill>
              </a:rPr>
              <a:t>• Provides reliable training inputs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0160" y="5157216"/>
            <a:ext cx="38862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39888" y="5157216"/>
            <a:ext cx="366674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0000"/>
                </a:solidFill>
              </a:rPr>
              <a:t>Stage 2 Output</a:t>
            </a:r>
          </a:p>
          <a:p>
            <a:r>
              <a:rPr b="0" dirty="0">
                <a:solidFill>
                  <a:srgbClr val="000000"/>
                </a:solidFill>
              </a:rPr>
              <a:t>• Model-ready NER data</a:t>
            </a:r>
          </a:p>
          <a:p>
            <a:r>
              <a:rPr b="0" dirty="0">
                <a:solidFill>
                  <a:srgbClr val="000000"/>
                </a:solidFill>
              </a:rPr>
              <a:t>• Positive relation examples</a:t>
            </a:r>
          </a:p>
          <a:p>
            <a:r>
              <a:rPr b="0" dirty="0">
                <a:solidFill>
                  <a:srgbClr val="000000"/>
                </a:solidFill>
              </a:rPr>
              <a:t>• Entity-marked RE inputs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6333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0000"/>
                </a:solidFill>
              </a:rPr>
              <a:t>Development Challenge: Handling Long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8940"/>
            <a:ext cx="672084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PubMedBERT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supports a maximum sequence length of 512 tokens.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Some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BioRED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documents exceeded this limit; the longest training document contained 722 tokens.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Sentence-based chunking was introduced to preserve natural context instead of using arbitrary fixed-token cuts.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Consecutive sentences were grouped within a 510-token content limit, leaving space for [CLS] and [SEP].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Final validation confirmed that no chunk exceeded 512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051560"/>
            <a:ext cx="3474720" cy="347472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b="1">
                <a:solidFill>
                  <a:srgbClr val="000000"/>
                </a:solidFill>
              </a:rPr>
              <a:t>Sentence-Based Chunking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00200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b="0">
                <a:solidFill>
                  <a:srgbClr val="000000"/>
                </a:solidFill>
              </a:rPr>
              <a:t>Original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258568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b="0">
                <a:solidFill>
                  <a:srgbClr val="000000"/>
                </a:solidFill>
              </a:rPr>
              <a:t>Sentence boundary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916936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b="0">
                <a:solidFill>
                  <a:srgbClr val="000000"/>
                </a:solidFill>
              </a:rPr>
              <a:t>Group consecutive sentences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575304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b="0">
                <a:solidFill>
                  <a:srgbClr val="000000"/>
                </a:solidFill>
              </a:rPr>
              <a:t>Validated model-ready chunks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579696"/>
              </p:ext>
            </p:extLst>
          </p:nvPr>
        </p:nvGraphicFramePr>
        <p:xfrm>
          <a:off x="7086600" y="4754880"/>
          <a:ext cx="4206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000000"/>
                          </a:solidFill>
                        </a:rPr>
                        <a:t>Split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0000"/>
                          </a:solidFill>
                        </a:rPr>
                        <a:t>Original Docs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0000"/>
                          </a:solidFill>
                        </a:rPr>
                        <a:t>Final Chunks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Train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400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415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Development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103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Test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dirty="0">
                          <a:solidFill>
                            <a:srgbClr val="000000"/>
                          </a:solidFill>
                        </a:rPr>
                        <a:t>107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44360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0000"/>
                </a:solidFill>
              </a:rPr>
              <a:t>Experiment Setup: </a:t>
            </a:r>
            <a:r>
              <a:rPr sz="2000" b="1" dirty="0" err="1">
                <a:solidFill>
                  <a:srgbClr val="000000"/>
                </a:solidFill>
              </a:rPr>
              <a:t>PubMedBERT</a:t>
            </a:r>
            <a:r>
              <a:rPr sz="2000" b="1" dirty="0">
                <a:solidFill>
                  <a:srgbClr val="000000"/>
                </a:solidFill>
              </a:rPr>
              <a:t> NER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0728"/>
            <a:ext cx="644652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Model: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PubMedBERT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configured for token classification.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Entity scheme: 13 BIO labels across 6 biomedical entity categories.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Full model fine-tuning with dynamic padding.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Learning rate: 2e-5 | Batch size: 4 | Epochs: 3.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Validation performed after each epoch.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Best checkpoint selected using validation F1-score.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A small one-epoch pilot was first used to validate the complete training pipeline.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79270"/>
              </p:ext>
            </p:extLst>
          </p:nvPr>
        </p:nvGraphicFramePr>
        <p:xfrm>
          <a:off x="6995160" y="353003"/>
          <a:ext cx="448056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041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0000"/>
                          </a:solidFill>
                        </a:rPr>
                        <a:t>Setting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0000"/>
                          </a:solidFill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0000"/>
                          </a:solidFill>
                        </a:rPr>
                        <a:t>Purpose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443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PubMedBERT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Biomedical representations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742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Batch size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Fit long sequences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742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Epochs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Full fine-tuning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95160" y="2878553"/>
            <a:ext cx="4480560" cy="17749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04888" y="2957125"/>
            <a:ext cx="426110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0000"/>
                </a:solidFill>
              </a:rPr>
              <a:t>6 Entity Types</a:t>
            </a:r>
          </a:p>
          <a:p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ChemicalEntity</a:t>
            </a:r>
            <a:endParaRPr b="0" dirty="0">
              <a:solidFill>
                <a:srgbClr val="000000"/>
              </a:solidFill>
            </a:endParaRPr>
          </a:p>
          <a:p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DiseaseOrPhenotypicFeature</a:t>
            </a:r>
            <a:endParaRPr b="0" dirty="0">
              <a:solidFill>
                <a:srgbClr val="000000"/>
              </a:solidFill>
            </a:endParaRPr>
          </a:p>
          <a:p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GeneOrGeneProduct</a:t>
            </a:r>
            <a:endParaRPr b="0" dirty="0">
              <a:solidFill>
                <a:srgbClr val="000000"/>
              </a:solidFill>
            </a:endParaRPr>
          </a:p>
          <a:p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SequenceVariant</a:t>
            </a:r>
            <a:endParaRPr b="0" dirty="0">
              <a:solidFill>
                <a:srgbClr val="000000"/>
              </a:solidFill>
            </a:endParaRPr>
          </a:p>
          <a:p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OrganismTaxon</a:t>
            </a:r>
            <a:r>
              <a:rPr b="0" dirty="0">
                <a:solidFill>
                  <a:srgbClr val="000000"/>
                </a:solidFill>
              </a:rPr>
              <a:t> / </a:t>
            </a:r>
            <a:r>
              <a:rPr b="0" dirty="0" err="1">
                <a:solidFill>
                  <a:srgbClr val="000000"/>
                </a:solidFill>
              </a:rPr>
              <a:t>CellLine</a:t>
            </a:r>
            <a:endParaRPr b="0" dirty="0">
              <a:solidFill>
                <a:srgbClr val="0000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95160" y="4809743"/>
            <a:ext cx="4480560" cy="1656983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4802519"/>
            <a:ext cx="426110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0000"/>
                </a:solidFill>
              </a:rPr>
              <a:t>Pilot Experiment</a:t>
            </a:r>
          </a:p>
          <a:p>
            <a:r>
              <a:rPr b="0" dirty="0">
                <a:solidFill>
                  <a:srgbClr val="000000"/>
                </a:solidFill>
              </a:rPr>
              <a:t>• 50 train chunks</a:t>
            </a:r>
          </a:p>
          <a:p>
            <a:r>
              <a:rPr b="0" dirty="0">
                <a:solidFill>
                  <a:srgbClr val="000000"/>
                </a:solidFill>
              </a:rPr>
              <a:t>• 20 validation chunks</a:t>
            </a:r>
          </a:p>
          <a:p>
            <a:r>
              <a:rPr b="0" dirty="0">
                <a:solidFill>
                  <a:srgbClr val="000000"/>
                </a:solidFill>
              </a:rPr>
              <a:t>• 1 epoch</a:t>
            </a:r>
          </a:p>
          <a:p>
            <a:r>
              <a:rPr b="0" dirty="0">
                <a:solidFill>
                  <a:srgbClr val="000000"/>
                </a:solidFill>
              </a:rPr>
              <a:t>• Confirmed end-to-end training and evaluation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26158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0000"/>
                </a:solidFill>
              </a:rPr>
              <a:t>NER Evaluation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356616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170432"/>
            <a:ext cx="334670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Validation Results</a:t>
            </a:r>
          </a:p>
          <a:p>
            <a:r>
              <a:rPr b="0">
                <a:solidFill>
                  <a:srgbClr val="000000"/>
                </a:solidFill>
              </a:rPr>
              <a:t>• Precision: 83.65%</a:t>
            </a:r>
          </a:p>
          <a:p>
            <a:r>
              <a:rPr b="0">
                <a:solidFill>
                  <a:srgbClr val="000000"/>
                </a:solidFill>
              </a:rPr>
              <a:t>• Recall: 88.79%</a:t>
            </a:r>
          </a:p>
          <a:p>
            <a:r>
              <a:rPr b="0">
                <a:solidFill>
                  <a:srgbClr val="000000"/>
                </a:solidFill>
              </a:rPr>
              <a:t>• F1-score: 86.15%</a:t>
            </a:r>
          </a:p>
          <a:p>
            <a:r>
              <a:rPr b="0">
                <a:solidFill>
                  <a:srgbClr val="000000"/>
                </a:solidFill>
              </a:rPr>
              <a:t>• Accuracy: 96.82%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97280"/>
            <a:ext cx="356616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170432"/>
            <a:ext cx="334670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Test Results</a:t>
            </a:r>
          </a:p>
          <a:p>
            <a:r>
              <a:rPr b="0">
                <a:solidFill>
                  <a:srgbClr val="000000"/>
                </a:solidFill>
              </a:rPr>
              <a:t>• Precision: 84.58%</a:t>
            </a:r>
          </a:p>
          <a:p>
            <a:r>
              <a:rPr b="0">
                <a:solidFill>
                  <a:srgbClr val="000000"/>
                </a:solidFill>
              </a:rPr>
              <a:t>• Recall: 88.60%</a:t>
            </a:r>
          </a:p>
          <a:p>
            <a:r>
              <a:rPr b="0">
                <a:solidFill>
                  <a:srgbClr val="000000"/>
                </a:solidFill>
              </a:rPr>
              <a:t>• F1-score: 86.54%</a:t>
            </a:r>
          </a:p>
          <a:p>
            <a:r>
              <a:rPr b="0">
                <a:solidFill>
                  <a:srgbClr val="000000"/>
                </a:solidFill>
              </a:rPr>
              <a:t>• Accuracy: 96.80%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097280"/>
            <a:ext cx="356616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8" y="1170432"/>
            <a:ext cx="334670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Loss</a:t>
            </a:r>
          </a:p>
          <a:p>
            <a:r>
              <a:rPr b="0">
                <a:solidFill>
                  <a:srgbClr val="000000"/>
                </a:solidFill>
              </a:rPr>
              <a:t>• Training loss: 0.0699</a:t>
            </a:r>
          </a:p>
          <a:p>
            <a:r>
              <a:rPr b="0">
                <a:solidFill>
                  <a:srgbClr val="000000"/>
                </a:solidFill>
              </a:rPr>
              <a:t>• Validation loss: 0.1185</a:t>
            </a:r>
          </a:p>
          <a:p>
            <a:r>
              <a:rPr b="0">
                <a:solidFill>
                  <a:srgbClr val="000000"/>
                </a:solidFill>
              </a:rPr>
              <a:t>• Test loss: 0.1144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1078992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b="0">
                <a:solidFill>
                  <a:srgbClr val="000000"/>
                </a:solidFill>
                <a:latin typeface="Arial"/>
              </a:rPr>
              <a:t>• Test performance closely matched validation performance, indicating stable generalisation to unseen BioRED documents.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b="0">
                <a:solidFill>
                  <a:srgbClr val="000000"/>
                </a:solidFill>
                <a:latin typeface="Arial"/>
              </a:rPr>
              <a:t>• Recall was slightly higher than precision, showing that the model recovered most gold entities while producing some extra predictions.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b="0">
                <a:solidFill>
                  <a:srgbClr val="000000"/>
                </a:solidFill>
                <a:latin typeface="Arial"/>
              </a:rPr>
              <a:t>• Entity-level F1-score is used as the primary NER performance measure.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5715000"/>
            <a:ext cx="9372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b="0">
                <a:solidFill>
                  <a:srgbClr val="000000"/>
                </a:solidFill>
              </a:rPr>
              <a:t>Key result: PubMedBERT achieved 86.54% entity-level F1 on the held-out BioRED test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4217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0000"/>
                </a:solidFill>
              </a:rPr>
              <a:t>Prediction Inspection and Error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662940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Systematic entity-level comparison was performed across all 107 test chunks.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Exact correct entities: 3,134.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False positives: 569.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False negatives: 401.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Common qualitative errors included boundary expansion, merging nearby disease mentions, false-positive disease spans, and occasional entity-type confusion.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961294"/>
              </p:ext>
            </p:extLst>
          </p:nvPr>
        </p:nvGraphicFramePr>
        <p:xfrm>
          <a:off x="7635240" y="930402"/>
          <a:ext cx="3886200" cy="2233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0000"/>
                          </a:solidFill>
                        </a:rPr>
                        <a:t>Entity Type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0000"/>
                          </a:solidFill>
                        </a:rPr>
                        <a:t>False Positives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00000"/>
                          </a:solidFill>
                        </a:rPr>
                        <a:t>False Negatives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Disease / Phenotype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233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160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Chemical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149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Gene / Gene Product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000000"/>
                          </a:solidFill>
                        </a:rPr>
                        <a:t>88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dirty="0">
                          <a:solidFill>
                            <a:srgbClr val="000000"/>
                          </a:solidFill>
                        </a:rPr>
                        <a:t>115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3241548"/>
            <a:ext cx="3886200" cy="15590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44967" y="3319272"/>
            <a:ext cx="366674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Common Error Patterns</a:t>
            </a:r>
          </a:p>
          <a:p>
            <a:r>
              <a:rPr b="0">
                <a:solidFill>
                  <a:srgbClr val="000000"/>
                </a:solidFill>
              </a:rPr>
              <a:t>• Boundary expansion</a:t>
            </a:r>
          </a:p>
          <a:p>
            <a:r>
              <a:rPr b="0">
                <a:solidFill>
                  <a:srgbClr val="000000"/>
                </a:solidFill>
              </a:rPr>
              <a:t>• Entity merging</a:t>
            </a:r>
          </a:p>
          <a:p>
            <a:r>
              <a:rPr b="0">
                <a:solidFill>
                  <a:srgbClr val="000000"/>
                </a:solidFill>
              </a:rPr>
              <a:t>• False-positive disease spans</a:t>
            </a:r>
          </a:p>
          <a:p>
            <a:r>
              <a:rPr b="0">
                <a:solidFill>
                  <a:srgbClr val="000000"/>
                </a:solidFill>
              </a:rPr>
              <a:t>• Gene / chemical type confusion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942332"/>
            <a:ext cx="3886200" cy="15590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7" y="5056632"/>
            <a:ext cx="366674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0000"/>
                </a:solidFill>
              </a:rPr>
              <a:t>Main Finding</a:t>
            </a:r>
          </a:p>
          <a:p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DiseaseOrPhenotypicFeature</a:t>
            </a:r>
            <a:r>
              <a:rPr b="0" dirty="0">
                <a:solidFill>
                  <a:srgbClr val="000000"/>
                </a:solidFill>
              </a:rPr>
              <a:t> was the most difficult category</a:t>
            </a:r>
          </a:p>
          <a:p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SequenceVariant</a:t>
            </a:r>
            <a:r>
              <a:rPr b="0" dirty="0">
                <a:solidFill>
                  <a:srgbClr val="000000"/>
                </a:solidFill>
              </a:rPr>
              <a:t> and </a:t>
            </a:r>
            <a:r>
              <a:rPr b="0" dirty="0" err="1">
                <a:solidFill>
                  <a:srgbClr val="000000"/>
                </a:solidFill>
              </a:rPr>
              <a:t>CellLine</a:t>
            </a:r>
            <a:r>
              <a:rPr b="0" dirty="0">
                <a:solidFill>
                  <a:srgbClr val="000000"/>
                </a:solidFill>
              </a:rPr>
              <a:t> produced fewer errors</a:t>
            </a:r>
          </a:p>
        </p:txBody>
      </p:sp>
      <p:pic>
        <p:nvPicPr>
          <p:cNvPr id="12" name="Picture 11" descr="image23.png">
            <a:extLst>
              <a:ext uri="{FF2B5EF4-FFF2-40B4-BE49-F238E27FC236}">
                <a16:creationId xmlns:a16="http://schemas.microsoft.com/office/drawing/2014/main" id="{6D6FE5EE-6BE6-DF61-D454-12ED9B33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6966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0000"/>
                </a:solidFill>
              </a:rPr>
              <a:t>Current Status, Next Steps, and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1" y="2259427"/>
            <a:ext cx="6492240" cy="131933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1" dirty="0">
                <a:solidFill>
                  <a:srgbClr val="000000"/>
                </a:solidFill>
                <a:latin typeface="Arial"/>
              </a:rPr>
              <a:t>Completed</a:t>
            </a:r>
          </a:p>
          <a:p>
            <a:pPr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Stage 1: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BioRED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inspection and validation</a:t>
            </a:r>
          </a:p>
          <a:p>
            <a:pPr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Stage 2: model-ready NER and RE preparation</a:t>
            </a:r>
          </a:p>
          <a:p>
            <a:pPr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Stage 3.1: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PubMedBERT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NER fine-tuning and evaluation</a:t>
            </a:r>
          </a:p>
          <a:p>
            <a:pPr>
              <a:defRPr sz="1500">
                <a:solidFill>
                  <a:srgbClr val="000000"/>
                </a:solidFill>
                <a:latin typeface="Arial"/>
              </a:defRPr>
            </a:pPr>
            <a:r>
              <a:rPr sz="1600" b="0" dirty="0">
                <a:solidFill>
                  <a:srgbClr val="000000"/>
                </a:solidFill>
                <a:latin typeface="Arial"/>
              </a:rPr>
              <a:t>• Final NER model and evaluation results saved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1" y="1097280"/>
            <a:ext cx="3931920" cy="188366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53527" y="1170432"/>
            <a:ext cx="3758183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0000"/>
                </a:solidFill>
              </a:rPr>
              <a:t>Next Development Step</a:t>
            </a:r>
          </a:p>
          <a:p>
            <a:r>
              <a:rPr b="0" dirty="0">
                <a:solidFill>
                  <a:srgbClr val="000000"/>
                </a:solidFill>
              </a:rPr>
              <a:t>• Generate </a:t>
            </a:r>
            <a:r>
              <a:rPr b="0" dirty="0" err="1">
                <a:solidFill>
                  <a:srgbClr val="000000"/>
                </a:solidFill>
              </a:rPr>
              <a:t>No_Relation</a:t>
            </a:r>
            <a:r>
              <a:rPr b="0" dirty="0">
                <a:solidFill>
                  <a:srgbClr val="000000"/>
                </a:solidFill>
              </a:rPr>
              <a:t> negative examples</a:t>
            </a:r>
          </a:p>
          <a:p>
            <a:r>
              <a:rPr b="0" dirty="0">
                <a:solidFill>
                  <a:srgbClr val="000000"/>
                </a:solidFill>
              </a:rPr>
              <a:t>• Complete RE training dataset</a:t>
            </a:r>
          </a:p>
          <a:p>
            <a:r>
              <a:rPr b="0" dirty="0">
                <a:solidFill>
                  <a:srgbClr val="000000"/>
                </a:solidFill>
              </a:rPr>
              <a:t>• Fine-tune </a:t>
            </a:r>
            <a:r>
              <a:rPr b="0" dirty="0" err="1">
                <a:solidFill>
                  <a:srgbClr val="000000"/>
                </a:solidFill>
              </a:rPr>
              <a:t>PubMedBERT</a:t>
            </a:r>
            <a:r>
              <a:rPr b="0" dirty="0">
                <a:solidFill>
                  <a:srgbClr val="000000"/>
                </a:solidFill>
              </a:rPr>
              <a:t> for relation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063240"/>
            <a:ext cx="3977639" cy="1600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7" y="3136392"/>
            <a:ext cx="3758183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Later Project Stages</a:t>
            </a:r>
          </a:p>
          <a:p>
            <a:r>
              <a:rPr b="0">
                <a:solidFill>
                  <a:srgbClr val="000000"/>
                </a:solidFill>
              </a:rPr>
              <a:t>• Evaluate full NER + RE pipeline</a:t>
            </a:r>
          </a:p>
          <a:p>
            <a:r>
              <a:rPr b="0">
                <a:solidFill>
                  <a:srgbClr val="000000"/>
                </a:solidFill>
              </a:rPr>
              <a:t>• Implement LLM extraction</a:t>
            </a:r>
          </a:p>
          <a:p>
            <a:r>
              <a:rPr b="0">
                <a:solidFill>
                  <a:srgbClr val="000000"/>
                </a:solidFill>
              </a:rPr>
              <a:t>• Compare both approaches fairly</a:t>
            </a:r>
          </a:p>
          <a:p>
            <a:r>
              <a:rPr b="0">
                <a:solidFill>
                  <a:srgbClr val="000000"/>
                </a:solidFill>
              </a:rPr>
              <a:t>• Construct Neo4j knowledge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800600"/>
            <a:ext cx="3977639" cy="1545336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53527" y="4873752"/>
            <a:ext cx="3758183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000000"/>
                </a:solidFill>
              </a:rPr>
              <a:t>Current Challenge</a:t>
            </a:r>
          </a:p>
          <a:p>
            <a:r>
              <a:rPr b="0">
                <a:solidFill>
                  <a:srgbClr val="000000"/>
                </a:solidFill>
              </a:rPr>
              <a:t>• Choosing a balanced negative-sampling strategy for relation extraction without overwhelming the positive relation classes</a:t>
            </a:r>
          </a:p>
        </p:txBody>
      </p:sp>
      <p:pic>
        <p:nvPicPr>
          <p:cNvPr id="13" name="Picture 12" descr="image23.png">
            <a:extLst>
              <a:ext uri="{FF2B5EF4-FFF2-40B4-BE49-F238E27FC236}">
                <a16:creationId xmlns:a16="http://schemas.microsoft.com/office/drawing/2014/main" id="{3054B547-D0AF-9DA6-A1CF-12DD5882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964</Words>
  <Application>Microsoft Macintosh PowerPoint</Application>
  <PresentationFormat>Widescreen</PresentationFormat>
  <Paragraphs>191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Milan, Mridul</cp:lastModifiedBy>
  <cp:revision>5</cp:revision>
  <dcterms:created xsi:type="dcterms:W3CDTF">2013-01-27T09:14:16Z</dcterms:created>
  <dcterms:modified xsi:type="dcterms:W3CDTF">2026-07-16T08:21:45Z</dcterms:modified>
  <cp:category/>
</cp:coreProperties>
</file>