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38"/>
  </p:normalViewPr>
  <p:slideViewPr>
    <p:cSldViewPr snapToGrid="0" snapToObjects="1">
      <p:cViewPr varScale="1">
        <p:scale>
          <a:sx n="113" d="100"/>
          <a:sy n="113" d="100"/>
        </p:scale>
        <p:origin x="5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0"/>
            <a:ext cx="5833872" cy="3931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355080" y="3931374"/>
            <a:ext cx="2924387" cy="2926626"/>
          </a:xfrm>
          <a:prstGeom prst="rect">
            <a:avLst/>
          </a:prstGeom>
          <a:solidFill>
            <a:srgbClr val="A80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2011680" cy="497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182880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Arial"/>
              </a:rPr>
              <a:t>Comparing LLMs and Fine-Tuned Transformer Models for NER and Relation Extraction in Knowledge Graph Construction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30529" y="6170700"/>
            <a:ext cx="2560316" cy="892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chemeClr val="bg1"/>
                </a:solidFill>
                <a:latin typeface="Arial"/>
              </a:rPr>
              <a:t>Mridul Milan</a:t>
            </a:r>
          </a:p>
          <a:p>
            <a:r>
              <a:rPr sz="1200" b="0" dirty="0">
                <a:solidFill>
                  <a:schemeClr val="bg1"/>
                </a:solidFill>
                <a:latin typeface="Arial"/>
              </a:rPr>
              <a:t>Student No: 25234387</a:t>
            </a:r>
          </a:p>
          <a:p>
            <a:r>
              <a:rPr lang="en-IN" sz="1300" b="0" dirty="0">
                <a:solidFill>
                  <a:schemeClr val="bg1"/>
                </a:solidFill>
                <a:latin typeface="Arial"/>
              </a:rPr>
              <a:t>Supervisor: Peter Paul </a:t>
            </a:r>
            <a:r>
              <a:rPr lang="en-IN" sz="1300" b="0" dirty="0" err="1">
                <a:solidFill>
                  <a:schemeClr val="bg1"/>
                </a:solidFill>
                <a:latin typeface="Arial"/>
              </a:rPr>
              <a:t>Buitelaar</a:t>
            </a:r>
            <a:endParaRPr lang="en-IN" sz="1300" b="0" dirty="0">
              <a:solidFill>
                <a:schemeClr val="bg1"/>
              </a:solidFill>
              <a:latin typeface="Arial"/>
            </a:endParaRPr>
          </a:p>
          <a:p>
            <a:endParaRPr sz="1300" b="0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4522523"/>
            <a:ext cx="475431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sz="1400" b="1" dirty="0">
                <a:latin typeface="Arial"/>
              </a:rPr>
              <a:t>Methodology </a:t>
            </a:r>
            <a:endParaRPr lang="en-US" sz="1400" b="1" dirty="0">
              <a:latin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400" b="1" dirty="0">
                <a:latin typeface="Arial"/>
              </a:rPr>
              <a:t>Development</a:t>
            </a:r>
            <a:endParaRPr lang="en-US" sz="1400" b="1" dirty="0">
              <a:latin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400" b="1" dirty="0">
                <a:latin typeface="Arial"/>
              </a:rPr>
              <a:t>Experiments </a:t>
            </a:r>
            <a:endParaRPr lang="en-US" sz="1400" b="1" dirty="0">
              <a:latin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400" b="1" dirty="0">
                <a:latin typeface="Arial"/>
              </a:rPr>
              <a:t>Evaluation</a:t>
            </a: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AA8AC9EB-B224-AEBA-0BA2-017794615466}"/>
              </a:ext>
            </a:extLst>
          </p:cNvPr>
          <p:cNvSpPr/>
          <p:nvPr/>
        </p:nvSpPr>
        <p:spPr>
          <a:xfrm>
            <a:off x="9279467" y="3931920"/>
            <a:ext cx="2912634" cy="2926626"/>
          </a:xfrm>
          <a:custGeom>
            <a:avLst/>
            <a:gdLst/>
            <a:ahLst/>
            <a:cxnLst/>
            <a:rect l="l" t="t" r="r" b="b"/>
            <a:pathLst>
              <a:path w="1734820" h="2287270">
                <a:moveTo>
                  <a:pt x="1734819" y="0"/>
                </a:moveTo>
                <a:lnTo>
                  <a:pt x="0" y="0"/>
                </a:lnTo>
                <a:lnTo>
                  <a:pt x="0" y="2286723"/>
                </a:lnTo>
                <a:lnTo>
                  <a:pt x="1734819" y="2286723"/>
                </a:lnTo>
                <a:lnTo>
                  <a:pt x="1734819" y="0"/>
                </a:lnTo>
                <a:close/>
              </a:path>
            </a:pathLst>
          </a:custGeom>
          <a:solidFill>
            <a:srgbClr val="82003C"/>
          </a:solidFill>
        </p:spPr>
        <p:txBody>
          <a:bodyPr wrap="square" lIns="0" tIns="0" rIns="0" bIns="0" rtlCol="0"/>
          <a:lstStyle/>
          <a:p>
            <a:pPr algn="l"/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56832"/>
            <a:ext cx="12191695" cy="45720"/>
          </a:xfrm>
          <a:prstGeom prst="rect">
            <a:avLst/>
          </a:prstGeom>
          <a:solidFill>
            <a:srgbClr val="A80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345936"/>
            <a:ext cx="1691640" cy="4180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75720" y="6272784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00000"/>
                </a:solidFill>
                <a:latin typeface="Arial"/>
              </a:rPr>
              <a:t>Project Progress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6492240" cy="3840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Project compares fine-tuned transformer models with LLM prompt-based extraction for biomedical NER and relation extraction [4], [5], [6].</a:t>
            </a:r>
          </a:p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BioRED is used as the gold-standard dataset because it provides labelled biomedical entities and relations [8].</a:t>
            </a:r>
          </a:p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Current work focuses on converting BioRED annotations into model-ready formats for NER and relation extraction.</a:t>
            </a:r>
          </a:p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Completed so far: dataset inspection, offset validation, NER token alignment, and positive relation example creation.</a:t>
            </a:r>
          </a:p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Final goal: evaluate both pipelines and convert reliable outputs into a biomedical knowledge graph [2], [3], [9].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097280"/>
            <a:ext cx="3977639" cy="16916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53527" y="1170432"/>
            <a:ext cx="3758183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Arial"/>
              </a:rPr>
              <a:t>Current Status</a:t>
            </a:r>
          </a:p>
          <a:p>
            <a:pPr>
              <a:defRPr sz="1200">
                <a:solidFill>
                  <a:srgbClr val="000000"/>
                </a:solidFill>
                <a:latin typeface="Arial"/>
              </a:defRPr>
            </a:pPr>
            <a:r>
              <a:t>• Stage 1 dataset inspection completed</a:t>
            </a:r>
          </a:p>
          <a:p>
            <a:pPr>
              <a:defRPr sz="1200">
                <a:solidFill>
                  <a:srgbClr val="000000"/>
                </a:solidFill>
                <a:latin typeface="Arial"/>
              </a:defRPr>
            </a:pPr>
            <a:r>
              <a:t>• Stage 2.1 NER preparation completed</a:t>
            </a:r>
          </a:p>
          <a:p>
            <a:pPr>
              <a:defRPr sz="1200">
                <a:solidFill>
                  <a:srgbClr val="000000"/>
                </a:solidFill>
                <a:latin typeface="Arial"/>
              </a:defRPr>
            </a:pPr>
            <a:r>
              <a:t>• Stage 2.2 relation positives completed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3063240"/>
            <a:ext cx="3977639" cy="16002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53527" y="3136392"/>
            <a:ext cx="3758183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Arial"/>
              </a:rPr>
              <a:t>Focus of This Meeting</a:t>
            </a:r>
          </a:p>
          <a:p>
            <a:pPr>
              <a:defRPr sz="1200">
                <a:solidFill>
                  <a:srgbClr val="000000"/>
                </a:solidFill>
                <a:latin typeface="Arial"/>
              </a:defRPr>
            </a:pPr>
            <a:r>
              <a:t>• Methodology update</a:t>
            </a:r>
          </a:p>
          <a:p>
            <a:pPr>
              <a:defRPr sz="1200">
                <a:solidFill>
                  <a:srgbClr val="000000"/>
                </a:solidFill>
                <a:latin typeface="Arial"/>
              </a:defRPr>
            </a:pPr>
            <a:r>
              <a:t>• Development progress</a:t>
            </a:r>
          </a:p>
          <a:p>
            <a:pPr>
              <a:defRPr sz="1200">
                <a:solidFill>
                  <a:srgbClr val="000000"/>
                </a:solidFill>
                <a:latin typeface="Arial"/>
              </a:defRPr>
            </a:pPr>
            <a:r>
              <a:t>• Planned experiments</a:t>
            </a:r>
          </a:p>
          <a:p>
            <a:pPr>
              <a:defRPr sz="1200">
                <a:solidFill>
                  <a:srgbClr val="000000"/>
                </a:solidFill>
                <a:latin typeface="Arial"/>
              </a:defRPr>
            </a:pPr>
            <a:r>
              <a:t>• Evaluation framework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4800600"/>
            <a:ext cx="3977639" cy="13258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53527" y="4873752"/>
            <a:ext cx="3758183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Arial"/>
              </a:rPr>
              <a:t>Immediate Next Work</a:t>
            </a:r>
          </a:p>
          <a:p>
            <a:pPr>
              <a:defRPr sz="1200">
                <a:solidFill>
                  <a:srgbClr val="000000"/>
                </a:solidFill>
                <a:latin typeface="Arial"/>
              </a:defRPr>
            </a:pPr>
            <a:r>
              <a:t>• Entity markers for relation input</a:t>
            </a:r>
          </a:p>
          <a:p>
            <a:pPr>
              <a:defRPr sz="1200">
                <a:solidFill>
                  <a:srgbClr val="000000"/>
                </a:solidFill>
                <a:latin typeface="Arial"/>
              </a:defRPr>
            </a:pPr>
            <a:r>
              <a:t>• Negative sampling</a:t>
            </a:r>
          </a:p>
          <a:p>
            <a:pPr>
              <a:defRPr sz="1200">
                <a:solidFill>
                  <a:srgbClr val="000000"/>
                </a:solidFill>
                <a:latin typeface="Arial"/>
              </a:defRPr>
            </a:pPr>
            <a:r>
              <a:t>• Transformer dataset objects</a:t>
            </a:r>
          </a:p>
          <a:p>
            <a:pPr>
              <a:defRPr sz="1200">
                <a:solidFill>
                  <a:srgbClr val="000000"/>
                </a:solidFill>
                <a:latin typeface="Arial"/>
              </a:defRPr>
            </a:pPr>
            <a:r>
              <a:t>• Start fine-tuning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56832"/>
            <a:ext cx="12191695" cy="45720"/>
          </a:xfrm>
          <a:prstGeom prst="rect">
            <a:avLst/>
          </a:prstGeom>
          <a:solidFill>
            <a:srgbClr val="A80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345936"/>
            <a:ext cx="1691640" cy="4180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75720" y="6272784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00000"/>
                </a:solidFill>
                <a:latin typeface="Arial"/>
              </a:rPr>
              <a:t>Methodology: Two Parallel Extraction Pipelines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987552"/>
            <a:ext cx="8046720" cy="384048"/>
          </a:xfrm>
          <a:prstGeom prst="roundRect">
            <a:avLst/>
          </a:prstGeom>
          <a:solidFill>
            <a:srgbClr val="F8EBF3"/>
          </a:solidFill>
          <a:ln w="12700">
            <a:solidFill>
              <a:srgbClr val="A80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Arial"/>
              </a:rPr>
              <a:t>BioRED Dataset: labelled biomedical abstracts with entity and relation annotations [8]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5212080" cy="28803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1810512"/>
            <a:ext cx="4992624" cy="277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Arial"/>
              </a:rPr>
              <a:t>Pipeline 1: Fine-Tuned Biomedical Transformer</a:t>
            </a:r>
          </a:p>
          <a:p>
            <a:pPr>
              <a:defRPr sz="1200">
                <a:solidFill>
                  <a:srgbClr val="000000"/>
                </a:solidFill>
                <a:latin typeface="Arial"/>
              </a:defRPr>
            </a:pPr>
            <a:r>
              <a:t>• Input BioRED abstracts</a:t>
            </a:r>
          </a:p>
          <a:p>
            <a:pPr>
              <a:defRPr sz="1200">
                <a:solidFill>
                  <a:srgbClr val="000000"/>
                </a:solidFill>
                <a:latin typeface="Arial"/>
              </a:defRPr>
            </a:pPr>
            <a:r>
              <a:t>• Fine-tune BioBERT / PubMedBERT [4], [5]</a:t>
            </a:r>
          </a:p>
          <a:p>
            <a:pPr>
              <a:defRPr sz="1200">
                <a:solidFill>
                  <a:srgbClr val="000000"/>
                </a:solidFill>
                <a:latin typeface="Arial"/>
              </a:defRPr>
            </a:pPr>
            <a:r>
              <a:t>• Predict entities and relations</a:t>
            </a:r>
          </a:p>
          <a:p>
            <a:pPr>
              <a:defRPr sz="1200">
                <a:solidFill>
                  <a:srgbClr val="000000"/>
                </a:solidFill>
                <a:latin typeface="Arial"/>
              </a:defRPr>
            </a:pPr>
            <a:r>
              <a:t>• Compare with BioRED gold labels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37360"/>
            <a:ext cx="5212080" cy="28803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9088" y="1810512"/>
            <a:ext cx="4992624" cy="277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Arial"/>
              </a:rPr>
              <a:t>Pipeline 2: LLM Prompt-Based Extraction</a:t>
            </a:r>
          </a:p>
          <a:p>
            <a:pPr>
              <a:defRPr sz="1200">
                <a:solidFill>
                  <a:srgbClr val="000000"/>
                </a:solidFill>
                <a:latin typeface="Arial"/>
              </a:defRPr>
            </a:pPr>
            <a:r>
              <a:t>• Use same BioRED abstracts</a:t>
            </a:r>
          </a:p>
          <a:p>
            <a:pPr>
              <a:defRPr sz="1200">
                <a:solidFill>
                  <a:srgbClr val="000000"/>
                </a:solidFill>
                <a:latin typeface="Arial"/>
              </a:defRPr>
            </a:pPr>
            <a:r>
              <a:t>• Apply structured prompts [6], [9]</a:t>
            </a:r>
          </a:p>
          <a:p>
            <a:pPr>
              <a:defRPr sz="1200">
                <a:solidFill>
                  <a:srgbClr val="000000"/>
                </a:solidFill>
                <a:latin typeface="Arial"/>
              </a:defRPr>
            </a:pPr>
            <a:r>
              <a:t>• Extract entity lists and relation triples</a:t>
            </a:r>
          </a:p>
          <a:p>
            <a:pPr>
              <a:defRPr sz="1200">
                <a:solidFill>
                  <a:srgbClr val="000000"/>
                </a:solidFill>
                <a:latin typeface="Arial"/>
              </a:defRPr>
            </a:pPr>
            <a:r>
              <a:t>• Post-process for evaluation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65960" y="4983480"/>
            <a:ext cx="8229600" cy="411480"/>
          </a:xfrm>
          <a:prstGeom prst="roundRect">
            <a:avLst/>
          </a:prstGeom>
          <a:solidFill>
            <a:srgbClr val="F8EBF3"/>
          </a:solidFill>
          <a:ln w="12700">
            <a:solidFill>
              <a:srgbClr val="A80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Arial"/>
              </a:rPr>
              <a:t>Evaluation: same test data, same labels, same metrics — Precision, Recall, F1-score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65960" y="5623560"/>
            <a:ext cx="8229600" cy="411480"/>
          </a:xfrm>
          <a:prstGeom prst="roundRect">
            <a:avLst/>
          </a:prstGeom>
          <a:solidFill>
            <a:srgbClr val="F8EBF3"/>
          </a:solidFill>
          <a:ln w="12700">
            <a:solidFill>
              <a:srgbClr val="A80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Arial"/>
              </a:rPr>
              <a:t>Knowledge Graph Output: entities as nodes and relations as edges [2], [3], [9]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56832"/>
            <a:ext cx="12191695" cy="45720"/>
          </a:xfrm>
          <a:prstGeom prst="rect">
            <a:avLst/>
          </a:prstGeom>
          <a:solidFill>
            <a:srgbClr val="A80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345936"/>
            <a:ext cx="1691640" cy="4180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75720" y="6272784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00000"/>
                </a:solidFill>
                <a:latin typeface="Arial"/>
              </a:rPr>
              <a:t>Development Progress: BioRED Dataset Inspection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051560"/>
            <a:ext cx="6629400" cy="40233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• Loaded BioRED train, development, and test splits for implementation.</a:t>
            </a:r>
          </a:p>
          <a:p>
            <a:pPr>
              <a:spcAft>
                <a:spcPts val="3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• Inspected each document structure: document ID, title passage, abstract passage, entity annotations, and gold relation annotations.</a:t>
            </a:r>
          </a:p>
          <a:p>
            <a:pPr>
              <a:spcAft>
                <a:spcPts val="3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• Reconstructed full document text from title and abstract passages so character offsets could be checked accurately.</a:t>
            </a:r>
          </a:p>
          <a:p>
            <a:pPr>
              <a:spcAft>
                <a:spcPts val="3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• Validated entity offsets by comparing each annotated span with the actual text span in the reconstructed document.</a:t>
            </a:r>
          </a:p>
          <a:p>
            <a:pPr>
              <a:spcAft>
                <a:spcPts val="3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• This step was necessary before transformer tokenisation, because NER training depends on correct entity boundaries [4], [5], [8].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635240" y="1143000"/>
          <a:ext cx="388620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Split</a:t>
                      </a:r>
                    </a:p>
                  </a:txBody>
                  <a:tcPr marL="45720" marR="45720" marT="27432" marB="27432">
                    <a:solidFill>
                      <a:srgbClr val="F8EB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Documents</a:t>
                      </a:r>
                    </a:p>
                  </a:txBody>
                  <a:tcPr marL="45720" marR="45720" marT="27432" marB="27432">
                    <a:solidFill>
                      <a:srgbClr val="F8EB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Entity Offset Mismatches</a:t>
                      </a:r>
                    </a:p>
                  </a:txBody>
                  <a:tcPr marL="45720" marR="45720" marT="27432" marB="27432">
                    <a:solidFill>
                      <a:srgbClr val="F8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Train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400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Development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Test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635240" y="3246120"/>
            <a:ext cx="3886200" cy="15544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44967" y="3319272"/>
            <a:ext cx="3666744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Arial"/>
              </a:rPr>
              <a:t>Why this matters</a:t>
            </a:r>
          </a:p>
          <a:p>
            <a:pPr>
              <a:defRPr sz="1200">
                <a:solidFill>
                  <a:srgbClr val="000000"/>
                </a:solidFill>
                <a:latin typeface="Arial"/>
              </a:defRPr>
            </a:pPr>
            <a:r>
              <a:t>• Prevents wrong BIO labels</a:t>
            </a:r>
          </a:p>
          <a:p>
            <a:pPr>
              <a:defRPr sz="1200">
                <a:solidFill>
                  <a:srgbClr val="000000"/>
                </a:solidFill>
                <a:latin typeface="Arial"/>
              </a:defRPr>
            </a:pPr>
            <a:r>
              <a:t>• Confirms annotation quality</a:t>
            </a:r>
          </a:p>
          <a:p>
            <a:pPr>
              <a:defRPr sz="1200">
                <a:solidFill>
                  <a:srgbClr val="000000"/>
                </a:solidFill>
                <a:latin typeface="Arial"/>
              </a:defRPr>
            </a:pPr>
            <a:r>
              <a:t>• Avoids errors before model training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4983480"/>
            <a:ext cx="388620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44967" y="5056632"/>
            <a:ext cx="3666744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Arial"/>
              </a:rPr>
              <a:t>Stage 1 Output</a:t>
            </a:r>
          </a:p>
          <a:p>
            <a:pPr>
              <a:defRPr sz="1200">
                <a:solidFill>
                  <a:srgbClr val="000000"/>
                </a:solidFill>
                <a:latin typeface="Arial"/>
              </a:defRPr>
            </a:pPr>
            <a:r>
              <a:t>• Clean document text</a:t>
            </a:r>
          </a:p>
          <a:p>
            <a:pPr>
              <a:defRPr sz="1200">
                <a:solidFill>
                  <a:srgbClr val="000000"/>
                </a:solidFill>
                <a:latin typeface="Arial"/>
              </a:defRPr>
            </a:pPr>
            <a:r>
              <a:t>• Verified entity offsets</a:t>
            </a:r>
          </a:p>
          <a:p>
            <a:pPr>
              <a:defRPr sz="1200">
                <a:solidFill>
                  <a:srgbClr val="000000"/>
                </a:solidFill>
                <a:latin typeface="Arial"/>
              </a:defRPr>
            </a:pPr>
            <a:r>
              <a:t>• Gold relation references ready for processing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56832"/>
            <a:ext cx="12191695" cy="45720"/>
          </a:xfrm>
          <a:prstGeom prst="rect">
            <a:avLst/>
          </a:prstGeom>
          <a:solidFill>
            <a:srgbClr val="A80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345936"/>
            <a:ext cx="1691640" cy="4180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75720" y="6272784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00000"/>
                </a:solidFill>
                <a:latin typeface="Arial"/>
              </a:rPr>
              <a:t>Development Progress: NER Data Preparation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005840"/>
            <a:ext cx="6720840" cy="3886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• Prepared BioRED annotations for Named Entity Recognition using a transformer-compatible sequence-labelling format [8].</a:t>
            </a:r>
          </a:p>
          <a:p>
            <a:pPr>
              <a:spcAft>
                <a:spcPts val="3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• Tokenised each document and aligned gold entity character spans with token offsets.</a:t>
            </a:r>
          </a:p>
          <a:p>
            <a:pPr>
              <a:spcAft>
                <a:spcPts val="3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• Converted entity annotations into BIO labels: B = beginning, I = inside, O = outside entity.</a:t>
            </a:r>
          </a:p>
          <a:p>
            <a:pPr>
              <a:spcAft>
                <a:spcPts val="3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• Entity types include ChemicalEntity, DiseaseOrPhenotypicFeature, GeneOrGeneProduct, OrganismTaxon, CellLine, and SequenceVariant.</a:t>
            </a:r>
          </a:p>
          <a:p>
            <a:pPr>
              <a:spcAft>
                <a:spcPts val="3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• The resulting token-label sequences are suitable for fine-tuning biomedical transformer models such as BioBERT or PubMedBERT [4], [5].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1051560"/>
            <a:ext cx="3474720" cy="347472"/>
          </a:xfrm>
          <a:prstGeom prst="roundRect">
            <a:avLst/>
          </a:prstGeom>
          <a:solidFill>
            <a:srgbClr val="F8EBF3"/>
          </a:solidFill>
          <a:ln w="12700">
            <a:solidFill>
              <a:srgbClr val="A80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Arial"/>
              </a:rPr>
              <a:t>NER Preparation 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1600200"/>
            <a:ext cx="3108960" cy="329184"/>
          </a:xfrm>
          <a:prstGeom prst="roundRect">
            <a:avLst/>
          </a:prstGeom>
          <a:solidFill>
            <a:srgbClr val="F8EBF3"/>
          </a:solidFill>
          <a:ln w="12700">
            <a:solidFill>
              <a:srgbClr val="A80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Text + offsets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2258568"/>
            <a:ext cx="3108960" cy="329184"/>
          </a:xfrm>
          <a:prstGeom prst="roundRect">
            <a:avLst/>
          </a:prstGeom>
          <a:solidFill>
            <a:srgbClr val="F8EBF3"/>
          </a:solidFill>
          <a:ln w="12700">
            <a:solidFill>
              <a:srgbClr val="A80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Tokenisation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2916936"/>
            <a:ext cx="3108960" cy="329184"/>
          </a:xfrm>
          <a:prstGeom prst="roundRect">
            <a:avLst/>
          </a:prstGeom>
          <a:solidFill>
            <a:srgbClr val="F8EBF3"/>
          </a:solidFill>
          <a:ln w="12700">
            <a:solidFill>
              <a:srgbClr val="A80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Span alignment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3575304"/>
            <a:ext cx="3108960" cy="329184"/>
          </a:xfrm>
          <a:prstGeom prst="roundRect">
            <a:avLst/>
          </a:prstGeom>
          <a:solidFill>
            <a:srgbClr val="F8EBF3"/>
          </a:solidFill>
          <a:ln w="12700">
            <a:solidFill>
              <a:srgbClr val="A80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BIO labels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635240" y="4572000"/>
          <a:ext cx="3886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Split</a:t>
                      </a:r>
                    </a:p>
                  </a:txBody>
                  <a:tcPr marL="45720" marR="45720" marT="27432" marB="27432">
                    <a:solidFill>
                      <a:srgbClr val="F8EB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Aligned Entities</a:t>
                      </a:r>
                    </a:p>
                  </a:txBody>
                  <a:tcPr marL="45720" marR="45720" marT="27432" marB="27432">
                    <a:solidFill>
                      <a:srgbClr val="F8EB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Unaligned</a:t>
                      </a:r>
                    </a:p>
                  </a:txBody>
                  <a:tcPr marL="45720" marR="45720" marT="27432" marB="27432">
                    <a:solidFill>
                      <a:srgbClr val="F8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Train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13,351 / 13,351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Development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3,533 / 3,533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Test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3,535 / 3,535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56832"/>
            <a:ext cx="12191695" cy="45720"/>
          </a:xfrm>
          <a:prstGeom prst="rect">
            <a:avLst/>
          </a:prstGeom>
          <a:solidFill>
            <a:srgbClr val="A80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345936"/>
            <a:ext cx="1691640" cy="4180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75720" y="6272784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00000"/>
                </a:solidFill>
                <a:latin typeface="Arial"/>
              </a:rPr>
              <a:t>Development Progress: Relation Extraction Preparation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005840"/>
            <a:ext cx="6446520" cy="374903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• Extracted BioRED gold relation annotations for relation extraction preparation [8].</a:t>
            </a:r>
          </a:p>
          <a:p>
            <a:pPr>
              <a:spcAft>
                <a:spcPts val="3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• Matched each gold relation to its corresponding biomedical entity identifier pair.</a:t>
            </a:r>
          </a:p>
          <a:p>
            <a:pPr>
              <a:spcAft>
                <a:spcPts val="3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• Created positive relation examples for training and evaluation of relation classification.</a:t>
            </a:r>
          </a:p>
          <a:p>
            <a:pPr>
              <a:spcAft>
                <a:spcPts val="3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• Resolved repeated biomedical identifiers by keeping track of concept-level identifiers and their mentions.</a:t>
            </a:r>
          </a:p>
          <a:p>
            <a:pPr>
              <a:spcAft>
                <a:spcPts val="3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• Entity-aware relation input will be prepared next because relation classification must highlight the target entity pair [11].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60920" y="1097280"/>
          <a:ext cx="4480560" cy="14226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0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0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01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1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Split</a:t>
                      </a:r>
                    </a:p>
                  </a:txBody>
                  <a:tcPr marL="45720" marR="45720" marT="27432" marB="27432">
                    <a:solidFill>
                      <a:srgbClr val="F8EB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Gold Relations</a:t>
                      </a:r>
                    </a:p>
                  </a:txBody>
                  <a:tcPr marL="45720" marR="45720" marT="27432" marB="27432">
                    <a:solidFill>
                      <a:srgbClr val="F8EB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Positive Examples</a:t>
                      </a:r>
                    </a:p>
                  </a:txBody>
                  <a:tcPr marL="45720" marR="45720" marT="27432" marB="27432">
                    <a:solidFill>
                      <a:srgbClr val="F8EB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Missing</a:t>
                      </a:r>
                    </a:p>
                  </a:txBody>
                  <a:tcPr marL="45720" marR="45720" marT="27432" marB="27432">
                    <a:solidFill>
                      <a:srgbClr val="F8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Train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4,178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4,178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Development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1,162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1,162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Test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1,163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1,163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60920" y="2788920"/>
            <a:ext cx="4480560" cy="14173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70648" y="2862072"/>
            <a:ext cx="4261104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Arial"/>
              </a:rPr>
              <a:t>8 Relation Labels</a:t>
            </a:r>
          </a:p>
          <a:p>
            <a:pPr>
              <a:defRPr sz="1200">
                <a:solidFill>
                  <a:srgbClr val="000000"/>
                </a:solidFill>
                <a:latin typeface="Arial"/>
              </a:defRPr>
            </a:pPr>
            <a:r>
              <a:t>• Association, Bind, Comparison</a:t>
            </a:r>
          </a:p>
          <a:p>
            <a:pPr>
              <a:defRPr sz="1200">
                <a:solidFill>
                  <a:srgbClr val="000000"/>
                </a:solidFill>
                <a:latin typeface="Arial"/>
              </a:defRPr>
            </a:pPr>
            <a:r>
              <a:t>• Conversion, Cotreatment</a:t>
            </a:r>
          </a:p>
          <a:p>
            <a:pPr>
              <a:defRPr sz="1200">
                <a:solidFill>
                  <a:srgbClr val="000000"/>
                </a:solidFill>
                <a:latin typeface="Arial"/>
              </a:defRPr>
            </a:pPr>
            <a:r>
              <a:t>• Drug Interaction</a:t>
            </a:r>
          </a:p>
          <a:p>
            <a:pPr>
              <a:defRPr sz="1200">
                <a:solidFill>
                  <a:srgbClr val="000000"/>
                </a:solidFill>
                <a:latin typeface="Arial"/>
              </a:defRPr>
            </a:pPr>
            <a:r>
              <a:t>• Negative / Positive Correlation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4480560"/>
            <a:ext cx="4480560" cy="14630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70648" y="4553712"/>
            <a:ext cx="4261104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Arial"/>
              </a:rPr>
              <a:t>Next RE Preparation</a:t>
            </a:r>
          </a:p>
          <a:p>
            <a:pPr>
              <a:defRPr sz="1200">
                <a:solidFill>
                  <a:srgbClr val="000000"/>
                </a:solidFill>
                <a:latin typeface="Arial"/>
              </a:defRPr>
            </a:pPr>
            <a:r>
              <a:t>• Add entity markers around target pair</a:t>
            </a:r>
          </a:p>
          <a:p>
            <a:pPr>
              <a:defRPr sz="1200">
                <a:solidFill>
                  <a:srgbClr val="000000"/>
                </a:solidFill>
                <a:latin typeface="Arial"/>
              </a:defRPr>
            </a:pPr>
            <a:r>
              <a:t>• Create negative examples</a:t>
            </a:r>
          </a:p>
          <a:p>
            <a:pPr>
              <a:defRPr sz="1200">
                <a:solidFill>
                  <a:srgbClr val="000000"/>
                </a:solidFill>
                <a:latin typeface="Arial"/>
              </a:defRPr>
            </a:pPr>
            <a:r>
              <a:t>• Build relation label map and dataset object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56832"/>
            <a:ext cx="12191695" cy="45720"/>
          </a:xfrm>
          <a:prstGeom prst="rect">
            <a:avLst/>
          </a:prstGeom>
          <a:solidFill>
            <a:srgbClr val="A80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345936"/>
            <a:ext cx="1691640" cy="4180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75720" y="6272784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00000"/>
                </a:solidFill>
                <a:latin typeface="Arial"/>
              </a:rPr>
              <a:t>Planned Experiments and Evaluation Framework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97280"/>
            <a:ext cx="3566160" cy="20116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170432"/>
            <a:ext cx="3346704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Arial"/>
              </a:rPr>
              <a:t>Experiment 1: NER Fine-Tuning</a:t>
            </a:r>
          </a:p>
          <a:p>
            <a:pPr>
              <a:defRPr sz="1200">
                <a:solidFill>
                  <a:srgbClr val="000000"/>
                </a:solidFill>
                <a:latin typeface="Arial"/>
              </a:defRPr>
            </a:pPr>
            <a:r>
              <a:t>• Use BIO-labelled BioRED data [8]</a:t>
            </a:r>
          </a:p>
          <a:p>
            <a:pPr>
              <a:defRPr sz="1200">
                <a:solidFill>
                  <a:srgbClr val="000000"/>
                </a:solidFill>
                <a:latin typeface="Arial"/>
              </a:defRPr>
            </a:pPr>
            <a:r>
              <a:t>• Fine-tune BioBERT / PubMedBERT [4], [5]</a:t>
            </a:r>
          </a:p>
          <a:p>
            <a:pPr>
              <a:defRPr sz="1200">
                <a:solidFill>
                  <a:srgbClr val="000000"/>
                </a:solidFill>
                <a:latin typeface="Arial"/>
              </a:defRPr>
            </a:pPr>
            <a:r>
              <a:t>• Evaluate entity-level performance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097280"/>
            <a:ext cx="3566160" cy="20116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90288" y="1170432"/>
            <a:ext cx="3346704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Arial"/>
              </a:rPr>
              <a:t>Experiment 2: Relation Classification</a:t>
            </a:r>
          </a:p>
          <a:p>
            <a:pPr>
              <a:defRPr sz="1200">
                <a:solidFill>
                  <a:srgbClr val="000000"/>
                </a:solidFill>
                <a:latin typeface="Arial"/>
              </a:defRPr>
            </a:pPr>
            <a:r>
              <a:t>• Add entity markers [11]</a:t>
            </a:r>
          </a:p>
          <a:p>
            <a:pPr>
              <a:defRPr sz="1200">
                <a:solidFill>
                  <a:srgbClr val="000000"/>
                </a:solidFill>
                <a:latin typeface="Arial"/>
              </a:defRPr>
            </a:pPr>
            <a:r>
              <a:t>• Generate negative relation examples</a:t>
            </a:r>
          </a:p>
          <a:p>
            <a:pPr>
              <a:defRPr sz="1200">
                <a:solidFill>
                  <a:srgbClr val="000000"/>
                </a:solidFill>
                <a:latin typeface="Arial"/>
              </a:defRPr>
            </a:pPr>
            <a:r>
              <a:t>• Classify pairs into BioRED relation labels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097280"/>
            <a:ext cx="3566160" cy="20116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85048" y="1170432"/>
            <a:ext cx="3346704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Arial"/>
              </a:rPr>
              <a:t>Experiment 3: LLM Extraction</a:t>
            </a:r>
          </a:p>
          <a:p>
            <a:pPr>
              <a:defRPr sz="1200">
                <a:solidFill>
                  <a:srgbClr val="000000"/>
                </a:solidFill>
                <a:latin typeface="Arial"/>
              </a:defRPr>
            </a:pPr>
            <a:r>
              <a:t>• Use structured prompts [6], [9]</a:t>
            </a:r>
          </a:p>
          <a:p>
            <a:pPr>
              <a:defRPr sz="1200">
                <a:solidFill>
                  <a:srgbClr val="000000"/>
                </a:solidFill>
                <a:latin typeface="Arial"/>
              </a:defRPr>
            </a:pPr>
            <a:r>
              <a:t>• Extract entities and relation triples</a:t>
            </a:r>
          </a:p>
          <a:p>
            <a:pPr>
              <a:defRPr sz="1200">
                <a:solidFill>
                  <a:srgbClr val="000000"/>
                </a:solidFill>
                <a:latin typeface="Arial"/>
              </a:defRPr>
            </a:pPr>
            <a:r>
              <a:t>• Post-process and match with gold labels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600"/>
            <a:ext cx="10789920" cy="17373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• Evaluation will be carried out separately for NER and relation extraction using Precision, Recall, and F1-score.</a:t>
            </a:r>
          </a:p>
          <a:p>
            <a:pPr>
              <a:spcAft>
                <a:spcPts val="3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• Both pipelines will be compared on the same BioRED data to keep the comparison fair and consistent [8].</a:t>
            </a:r>
          </a:p>
          <a:p>
            <a:pPr>
              <a:spcAft>
                <a:spcPts val="3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• The analysis will compare accuracy, output consistency, and knowledge-graph readiness.</a:t>
            </a:r>
          </a:p>
          <a:p>
            <a:pPr>
              <a:spcAft>
                <a:spcPts val="3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• Next steps: entity-marker inputs, negative sampling, transformer dataset objects, and first fine-tuning run.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17320" y="5715000"/>
            <a:ext cx="9372600" cy="411480"/>
          </a:xfrm>
          <a:prstGeom prst="roundRect">
            <a:avLst/>
          </a:prstGeom>
          <a:solidFill>
            <a:srgbClr val="F8EBF3"/>
          </a:solidFill>
          <a:ln w="12700">
            <a:solidFill>
              <a:srgbClr val="A80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rtlCol="0" anchor="ctr"/>
          <a:lstStyle/>
          <a:p>
            <a:pPr algn="ctr"/>
            <a:r>
              <a:rPr sz="1300" b="1">
                <a:solidFill>
                  <a:srgbClr val="000000"/>
                </a:solidFill>
                <a:latin typeface="Arial"/>
              </a:rPr>
              <a:t>Key comparison: controlled supervised models vs flexible but less predictable LLM prompting [6], [7], [9]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56832"/>
            <a:ext cx="12191695" cy="45720"/>
          </a:xfrm>
          <a:prstGeom prst="rect">
            <a:avLst/>
          </a:prstGeom>
          <a:solidFill>
            <a:srgbClr val="A80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345936"/>
            <a:ext cx="1691640" cy="4180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75720" y="6272784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000000"/>
                </a:solidFill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00000"/>
                </a:solidFill>
                <a:latin typeface="Arial"/>
              </a:rPr>
              <a:t>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051560"/>
            <a:ext cx="5257800" cy="4388894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600"/>
              </a:spcAft>
              <a:defRPr sz="850">
                <a:solidFill>
                  <a:srgbClr val="000000"/>
                </a:solidFill>
                <a:latin typeface="Arial"/>
              </a:defRPr>
            </a:pPr>
            <a:r>
              <a:rPr lang="en-US" sz="1600" dirty="0"/>
              <a:t>[</a:t>
            </a:r>
            <a:r>
              <a:rPr sz="1600" dirty="0"/>
              <a:t>1] K. Lo et al., “S2ORC: The Semantic Scholar Open Research Corpus,” ACL, 2020.</a:t>
            </a:r>
          </a:p>
          <a:p>
            <a:pPr>
              <a:spcAft>
                <a:spcPts val="600"/>
              </a:spcAft>
              <a:defRPr sz="850">
                <a:solidFill>
                  <a:srgbClr val="000000"/>
                </a:solidFill>
                <a:latin typeface="Arial"/>
              </a:defRPr>
            </a:pPr>
            <a:r>
              <a:rPr sz="1600" dirty="0"/>
              <a:t>[2] Y. Luan et al., “Multi-task Identification of Entities, Relations, and Coreference for Scientific Knowledge Graph Construction,” EMNLP, 2018.</a:t>
            </a:r>
          </a:p>
          <a:p>
            <a:pPr>
              <a:spcAft>
                <a:spcPts val="600"/>
              </a:spcAft>
              <a:defRPr sz="850">
                <a:solidFill>
                  <a:srgbClr val="000000"/>
                </a:solidFill>
                <a:latin typeface="Arial"/>
              </a:defRPr>
            </a:pPr>
            <a:r>
              <a:rPr sz="1600" dirty="0"/>
              <a:t>[3] D. Wadden et al., “Entity, Relation, and Event Extraction with Contextualized Span Representations,” EMNLP-IJCNLP, 2019.</a:t>
            </a:r>
          </a:p>
          <a:p>
            <a:pPr>
              <a:spcAft>
                <a:spcPts val="600"/>
              </a:spcAft>
              <a:defRPr sz="850">
                <a:solidFill>
                  <a:srgbClr val="000000"/>
                </a:solidFill>
                <a:latin typeface="Arial"/>
              </a:defRPr>
            </a:pPr>
            <a:r>
              <a:rPr sz="1600" dirty="0"/>
              <a:t>[4] J. Lee et al., “</a:t>
            </a:r>
            <a:r>
              <a:rPr sz="1600" dirty="0" err="1"/>
              <a:t>BioBERT</a:t>
            </a:r>
            <a:r>
              <a:rPr sz="1600" dirty="0"/>
              <a:t>: A Pre-trained Biomedical Language Representation Model for Biomedical Text Mining,” Bioinformatics, 2020.</a:t>
            </a:r>
          </a:p>
          <a:p>
            <a:pPr>
              <a:spcAft>
                <a:spcPts val="600"/>
              </a:spcAft>
              <a:defRPr sz="850">
                <a:solidFill>
                  <a:srgbClr val="000000"/>
                </a:solidFill>
                <a:latin typeface="Arial"/>
              </a:defRPr>
            </a:pPr>
            <a:r>
              <a:rPr sz="1600" dirty="0"/>
              <a:t>[5] Y. Gu et al., “Domain-specific Language Model Pretraining for Biomedical NLP,” ACM Transactions on Computing for Healthcare, 2021.</a:t>
            </a:r>
          </a:p>
          <a:p>
            <a:pPr>
              <a:spcAft>
                <a:spcPts val="600"/>
              </a:spcAft>
              <a:defRPr sz="850">
                <a:solidFill>
                  <a:srgbClr val="000000"/>
                </a:solidFill>
                <a:latin typeface="Arial"/>
              </a:defRPr>
            </a:pPr>
            <a:r>
              <a:rPr sz="1600" dirty="0"/>
              <a:t>[6] J. Zhang et al., “A Study of Biomedical Relation Extraction Using GPT Models,” PMC, 2024.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6263640" y="1051560"/>
            <a:ext cx="5257800" cy="4065728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600"/>
              </a:spcAft>
              <a:defRPr sz="850">
                <a:solidFill>
                  <a:srgbClr val="000000"/>
                </a:solidFill>
                <a:latin typeface="Arial"/>
              </a:defRPr>
            </a:pPr>
            <a:r>
              <a:rPr lang="en-US" sz="1600" dirty="0"/>
              <a:t>[</a:t>
            </a:r>
            <a:r>
              <a:rPr sz="1600" dirty="0"/>
              <a:t>7] I. Jahan et al., “A Comprehensive Evaluation of Large Language Models on Benchmark Biomedical Text Processing Tasks,” Computers in Biology and Medicine, 2024.</a:t>
            </a:r>
          </a:p>
          <a:p>
            <a:pPr>
              <a:spcAft>
                <a:spcPts val="600"/>
              </a:spcAft>
              <a:defRPr sz="850">
                <a:solidFill>
                  <a:srgbClr val="000000"/>
                </a:solidFill>
                <a:latin typeface="Arial"/>
              </a:defRPr>
            </a:pPr>
            <a:r>
              <a:rPr sz="1600" dirty="0"/>
              <a:t>[8] L. Luo et al., “</a:t>
            </a:r>
            <a:r>
              <a:rPr sz="1600" dirty="0" err="1"/>
              <a:t>BioRED</a:t>
            </a:r>
            <a:r>
              <a:rPr sz="1600" dirty="0"/>
              <a:t>: A Rich Biomedical Relation Extraction Dataset,” Briefings in Bioinformatics, 2022.</a:t>
            </a:r>
          </a:p>
          <a:p>
            <a:pPr>
              <a:spcAft>
                <a:spcPts val="600"/>
              </a:spcAft>
              <a:defRPr sz="850">
                <a:solidFill>
                  <a:srgbClr val="000000"/>
                </a:solidFill>
                <a:latin typeface="Arial"/>
              </a:defRPr>
            </a:pPr>
            <a:r>
              <a:rPr sz="1600" dirty="0"/>
              <a:t>[9] V. </a:t>
            </a:r>
            <a:r>
              <a:rPr sz="1600" dirty="0" err="1"/>
              <a:t>Arsenyan</a:t>
            </a:r>
            <a:r>
              <a:rPr sz="1600" dirty="0"/>
              <a:t> et al., “Large Language Models for Biomedical Knowledge Graph Construction: Information Extraction from EMR Notes,” </a:t>
            </a:r>
            <a:r>
              <a:rPr sz="1600" dirty="0" err="1"/>
              <a:t>BioNLP</a:t>
            </a:r>
            <a:r>
              <a:rPr sz="1600" dirty="0"/>
              <a:t> Workshop, 2024.</a:t>
            </a:r>
          </a:p>
          <a:p>
            <a:pPr>
              <a:spcAft>
                <a:spcPts val="600"/>
              </a:spcAft>
              <a:defRPr sz="850">
                <a:solidFill>
                  <a:srgbClr val="000000"/>
                </a:solidFill>
                <a:latin typeface="Arial"/>
              </a:defRPr>
            </a:pPr>
            <a:r>
              <a:rPr sz="1600" dirty="0"/>
              <a:t>[10] S. Subramanian et al., “S2AND: A Benchmark and Evaluation System for Author Name Disambiguation,” JCDL, 2021.</a:t>
            </a:r>
          </a:p>
          <a:p>
            <a:pPr>
              <a:spcAft>
                <a:spcPts val="600"/>
              </a:spcAft>
              <a:defRPr sz="850">
                <a:solidFill>
                  <a:srgbClr val="000000"/>
                </a:solidFill>
                <a:latin typeface="Arial"/>
              </a:defRPr>
            </a:pPr>
            <a:r>
              <a:rPr sz="1600" dirty="0"/>
              <a:t>[11] M. Li and K. </a:t>
            </a:r>
            <a:r>
              <a:rPr sz="1600" dirty="0" err="1"/>
              <a:t>Verspoor</a:t>
            </a:r>
            <a:r>
              <a:rPr sz="1600" dirty="0"/>
              <a:t>, “EMBRE: Entity-aware Masking for Biomedical Relation Extraction,” arXiv:2401.07877, 2024.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1224</Words>
  <Application>Microsoft Macintosh PowerPoint</Application>
  <PresentationFormat>Widescreen</PresentationFormat>
  <Paragraphs>159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Milan, Mridul</cp:lastModifiedBy>
  <cp:revision>3</cp:revision>
  <dcterms:created xsi:type="dcterms:W3CDTF">2013-01-27T09:14:16Z</dcterms:created>
  <dcterms:modified xsi:type="dcterms:W3CDTF">2026-07-09T08:14:08Z</dcterms:modified>
  <cp:category/>
</cp:coreProperties>
</file>