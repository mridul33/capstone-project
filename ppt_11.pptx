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1"/>
    <p:restoredTop sz="94645"/>
  </p:normalViewPr>
  <p:slideViewPr>
    <p:cSldViewPr snapToGrid="0" snapToObjects="1">
      <p:cViewPr varScale="1">
        <p:scale>
          <a:sx n="115" d="100"/>
          <a:sy n="115" d="100"/>
        </p:scale>
        <p:origin x="208" y="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D6567-16FD-0C4F-9DA6-36CA1B964BFB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AA8CA-F2F4-BD41-B73B-77C3EAF34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2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AA8CA-F2F4-BD41-B73B-77C3EAF349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7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3872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5080" y="3931374"/>
            <a:ext cx="2924387" cy="2926626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011680" cy="49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0"/>
            <a:ext cx="5303520" cy="2677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Comparing LLMs and Fine-Tuned Transformer-Based Models</a:t>
            </a:r>
          </a:p>
          <a:p>
            <a:r>
              <a:rPr sz="2400" b="1" dirty="0">
                <a:solidFill>
                  <a:srgbClr val="000000"/>
                </a:solidFill>
                <a:latin typeface="Aptos"/>
              </a:rPr>
              <a:t>for Biomedical NER and Relation Extraction</a:t>
            </a:r>
          </a:p>
          <a:p>
            <a:r>
              <a:rPr sz="2400" b="1" dirty="0">
                <a:solidFill>
                  <a:srgbClr val="000000"/>
                </a:solidFill>
                <a:latin typeface="Aptos"/>
              </a:rPr>
              <a:t>for Knowledge Graph Construction</a:t>
            </a:r>
          </a:p>
          <a:p>
            <a:pPr>
              <a:spcAft>
                <a:spcPts val="200"/>
              </a:spcAft>
            </a:pPr>
            <a:endParaRPr sz="2400" b="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5080" y="5965721"/>
            <a:ext cx="2812758" cy="830997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Mridul Milan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Student No: 25234387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Supervisor: Prof. Peter Paul Buitelaar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8AC9EB-B224-AEBA-0BA2-017794615466}"/>
              </a:ext>
            </a:extLst>
          </p:cNvPr>
          <p:cNvSpPr/>
          <p:nvPr/>
        </p:nvSpPr>
        <p:spPr>
          <a:xfrm>
            <a:off x="9279467" y="3931920"/>
            <a:ext cx="2912634" cy="2926626"/>
          </a:xfrm>
          <a:custGeom>
            <a:avLst/>
            <a:gdLst/>
            <a:ahLst/>
            <a:cxnLst/>
            <a:rect l="l" t="t" r="r" b="b"/>
            <a:pathLst>
              <a:path w="1734820" h="2287270">
                <a:moveTo>
                  <a:pt x="1734819" y="0"/>
                </a:moveTo>
                <a:lnTo>
                  <a:pt x="0" y="0"/>
                </a:lnTo>
                <a:lnTo>
                  <a:pt x="0" y="2286723"/>
                </a:lnTo>
                <a:lnTo>
                  <a:pt x="1734819" y="2286723"/>
                </a:lnTo>
                <a:lnTo>
                  <a:pt x="1734819" y="0"/>
                </a:lnTo>
                <a:close/>
              </a:path>
            </a:pathLst>
          </a:custGeom>
          <a:solidFill>
            <a:srgbClr val="82003C"/>
          </a:solidFill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6100730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Progress Since the Previous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41942"/>
            <a:ext cx="6443470" cy="3458657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Previous Position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NER completed: 86.54% F1 [1,2].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Relation extraction paused at marker validation.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Qwen2.5-7B-Instruct selected but not loaded [4].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No LLM predictions, pilot study or evaluation results.</a:t>
            </a:r>
          </a:p>
          <a:p>
            <a:pPr>
              <a:spcAft>
                <a:spcPts val="200"/>
              </a:spcAft>
            </a:pPr>
            <a:endParaRPr sz="1400" b="0" dirty="0">
              <a:solidFill>
                <a:srgbClr val="000000"/>
              </a:solidFill>
              <a:latin typeface="Aptos"/>
            </a:endParaRPr>
          </a:p>
          <a:p>
            <a:r>
              <a:rPr sz="1400" b="1" dirty="0">
                <a:solidFill>
                  <a:srgbClr val="000000"/>
                </a:solidFill>
                <a:latin typeface="Aptos"/>
              </a:rPr>
              <a:t>New Work Completed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relation extraction completed.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Qwen2.5-7B loaded with 4-bit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quantisation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[4,5].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End-to-end LLM-based NER pipeline implemented.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Five-document pilot and 95-document dev evaluation completed.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097280"/>
            <a:ext cx="3977639" cy="1691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Current Status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PubMedBERT NER: complete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PubMedBERT RE: complete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LLM NER: complete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LLM RE: next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Focus of This Meeting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New implementation progress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Pilot and development results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PubMedBERT vs Qwen comparison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Problems and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Key Advancement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>• Project moved from pipeline preparation to completed model implementation and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195268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PubMedBERT Relation Extraction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157370"/>
            <a:ext cx="8004679" cy="486858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 fontScale="925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Entity-preserving cropping resolved the marker-loss problem before supervised RE training [1,2]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992624" cy="2770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Input Repair and Validation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Original issue: long examples exceeded 512 tokens.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Standard truncation removed one marked relation entity.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Both relation arguments were located before cropping.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Entity-preserving context windows were created.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Both marker pairs were revalidated before training.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Final validated examples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Train: 8,340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Development: 2,313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Test: 2,300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4992624" cy="2770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Final Relation Model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PubMedBERT sequence-classification model [2].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Eight BioRED relations + No_Relation [1].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Learning rate: 2e-5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Batch size: 4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Epochs: 3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Class-weighted cross-entropy used for imbalance.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Test performance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Accuracy: 69.83%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Weighted F1: 69.07%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Macro F1: 36.44%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98348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Final RE model saved after validation, training and class-weighted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62356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Main observation: high weighted F1 but lower macro F1 due to rare relation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63391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Qwen2.5-7B LLM NER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916" y="1978185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ptos"/>
              </a:rPr>
              <a:t>• Implemented an end-to-end biomedical NER pipeline using Qwen2.5-7B-Instruct [4].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Loaded the model through Hugging Face Transformers.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Used 4-bit BitsAndBytes quantisation for Tesla T4 inference [5].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Applied a frozen biomedical extraction prompt.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Required structured JSON output with BioRED entity labels [1].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Added automatic JSON parsing, schema validation and label checking.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Recovered exact character offsets from predicted entity text.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Added mention expansion, strict evaluation and checkpoint saving.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24146"/>
              </p:ext>
            </p:extLst>
          </p:nvPr>
        </p:nvGraphicFramePr>
        <p:xfrm>
          <a:off x="7635240" y="854964"/>
          <a:ext cx="2590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Implementation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Qwen2.5-7B-Instruct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Quantisation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4-bit BitsAndBytes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Runtime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Google Colab T4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0160" y="3408426"/>
            <a:ext cx="3886200" cy="1554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9888" y="3520609"/>
            <a:ext cx="3666744" cy="144475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Pipeline Flow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title + abstract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Frozen extraction prompt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Qwen inference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JSON parsing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Mention expansion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Offset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0160" y="5157216"/>
            <a:ext cx="38862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9568" y="5212080"/>
            <a:ext cx="3666744" cy="107899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Evaluation Rule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Strict mention-level matching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Start offset must match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End offset must match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Entity type must match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Invalid labels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63333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000000"/>
                </a:solidFill>
                <a:latin typeface="Aptos"/>
              </a:rPr>
              <a:t>Frozen LLM Entity Extraction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8940"/>
            <a:ext cx="672084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r>
              <a:rPr sz="1500" b="1" dirty="0">
                <a:solidFill>
                  <a:srgbClr val="000000"/>
                </a:solidFill>
                <a:latin typeface="Aptos"/>
              </a:rPr>
              <a:t>Prompt Objective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Identify distinct biomedical entity surface forms explicitly mentioned in the document.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Return only one valid JSON object with no explanations or additional text.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Use only the six permitted </a:t>
            </a:r>
            <a:r>
              <a:rPr sz="135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350" b="0" dirty="0">
                <a:solidFill>
                  <a:srgbClr val="000000"/>
                </a:solidFill>
                <a:latin typeface="Aptos"/>
              </a:rPr>
              <a:t> entity categories.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Preserve the entity text exactly as it appears in the document.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lang="en-IN" sz="1350" b="0" dirty="0">
                <a:solidFill>
                  <a:srgbClr val="000000"/>
                </a:solidFill>
                <a:latin typeface="Aptos"/>
              </a:rPr>
              <a:t>Character offsets are recovered later using Python.</a:t>
            </a:r>
            <a:endParaRPr sz="1350" b="0" dirty="0">
              <a:solidFill>
                <a:srgbClr val="000000"/>
              </a:solidFill>
              <a:latin typeface="Aptos"/>
            </a:endParaRPr>
          </a:p>
          <a:p>
            <a:r>
              <a:rPr sz="1500" b="1" dirty="0">
                <a:solidFill>
                  <a:srgbClr val="000000"/>
                </a:solidFill>
                <a:latin typeface="Aptos"/>
              </a:rPr>
              <a:t>Frozen Evaluation Use</a:t>
            </a:r>
          </a:p>
          <a:p>
            <a:r>
              <a:rPr sz="1350" b="0" dirty="0">
                <a:solidFill>
                  <a:srgbClr val="000000"/>
                </a:solidFill>
                <a:latin typeface="Aptos"/>
              </a:rPr>
              <a:t>• The same prompt, schema and rules were used without modification for all 95 development documents.</a:t>
            </a:r>
          </a:p>
        </p:txBody>
      </p:sp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644B3E-81E3-01EE-B3A9-AC319EFA2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222" y="356615"/>
            <a:ext cx="5062473" cy="5242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443606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Frozen Development-Set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728"/>
            <a:ext cx="644652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ptos"/>
              </a:rPr>
              <a:t>• Frozen prompt applied to the remaining 95 BioRED development documents.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No further prompt refinement during this evaluation stage.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Outputs were parsed automatically and validated against the BioRED schema [1].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Predictions were converted into mention-level offsets.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Strict exact matching was used for precision, recall and F1.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Checkpoints were saved after each document.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491231"/>
              </p:ext>
            </p:extLst>
          </p:nvPr>
        </p:nvGraphicFramePr>
        <p:xfrm>
          <a:off x="8171745" y="411480"/>
          <a:ext cx="2240280" cy="1776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04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44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Documents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Valid JSON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Invalid JSON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51605" y="2878553"/>
            <a:ext cx="4480560" cy="1774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2957125"/>
            <a:ext cx="4261104" cy="130759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Strict Evaluation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True positives: 1,313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False positives: 935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False negatives: 2,025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Precision: 0.5841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Recall: 0.3933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F1-score: 0.4701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1605" y="4821146"/>
            <a:ext cx="4480560" cy="165698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132320" y="4802519"/>
            <a:ext cx="4261104" cy="135331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Main Finding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JSON format was reliable.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Extraction recall was limited.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Missed entity mentions were the largest error source.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Valid JSON did not guarantee correct biomedical extraction.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411480"/>
            <a:ext cx="694155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PubMedBERT vs Qwen2.5-7B: Current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3595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37118"/>
            <a:ext cx="3346704" cy="1901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1" dirty="0">
                <a:solidFill>
                  <a:srgbClr val="000000"/>
                </a:solidFill>
                <a:latin typeface="Aptos"/>
              </a:rPr>
              <a:t> NER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Supervised fine-tuning [2].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Token-level BIO classification.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Evaluated on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test set [1].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Final F1-score: 86.54%.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Strong exact-match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3595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5226" y="1637118"/>
            <a:ext cx="3346704" cy="1901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Qwen2.5-7B NER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Prompt-based extraction [4].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No task-specific fine-tuning.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Evaluated on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dev set [1].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Frozen-prompt F1-score: 47.01%.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Flexible but less reliable.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3595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4756" y="1637118"/>
            <a:ext cx="3346704" cy="1901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Performance Difference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Difference: 39.53 percentage points.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benefits from labelled supervision.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Qwen requires parsing and offset recovery.</a:t>
            </a:r>
          </a:p>
          <a:p>
            <a:r>
              <a:rPr sz="1400" b="0" dirty="0">
                <a:solidFill>
                  <a:srgbClr val="000000"/>
                </a:solidFill>
                <a:latin typeface="Aptos"/>
              </a:rPr>
              <a:t>• Final comparison must use the same split.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78992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1" dirty="0">
                <a:solidFill>
                  <a:srgbClr val="000000"/>
                </a:solidFill>
                <a:latin typeface="Aptos"/>
              </a:rPr>
              <a:t>Current NER Comparison</a:t>
            </a:r>
          </a:p>
          <a:p>
            <a:r>
              <a:rPr sz="16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fine-tuned NER: 86.54% F1</a:t>
            </a: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Qwen2.5-7B prompt-based NER: 47.01% F1</a:t>
            </a:r>
          </a:p>
          <a:p>
            <a:pPr>
              <a:spcAft>
                <a:spcPts val="200"/>
              </a:spcAft>
            </a:pPr>
            <a:endParaRPr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Important limitation: </a:t>
            </a:r>
            <a:r>
              <a:rPr lang="en-IN" sz="1600" b="0" dirty="0">
                <a:solidFill>
                  <a:srgbClr val="000000"/>
                </a:solidFill>
                <a:latin typeface="Aptos"/>
              </a:rPr>
              <a:t>This is an initial comparison because </a:t>
            </a:r>
            <a:r>
              <a:rPr lang="en-IN" sz="16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lang="en-IN" sz="1600" b="0" dirty="0">
                <a:solidFill>
                  <a:srgbClr val="000000"/>
                </a:solidFill>
                <a:latin typeface="Aptos"/>
              </a:rPr>
              <a:t> was tested on the </a:t>
            </a:r>
            <a:r>
              <a:rPr lang="en-IN" sz="16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lang="en-IN" sz="1600" b="0" dirty="0">
                <a:solidFill>
                  <a:srgbClr val="000000"/>
                </a:solidFill>
                <a:latin typeface="Aptos"/>
              </a:rPr>
              <a:t> test set, while Qwen2.5-7B was evaluated on the development set after the prompt was finalised.</a:t>
            </a:r>
            <a:endParaRPr sz="160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17320" y="5715000"/>
            <a:ext cx="9372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IN" sz="1500" b="1" dirty="0">
                <a:solidFill>
                  <a:srgbClr val="000000"/>
                </a:solidFill>
                <a:latin typeface="Aptos"/>
              </a:rPr>
              <a:t>Final comparison will use the same </a:t>
            </a:r>
            <a:r>
              <a:rPr lang="en-IN" sz="1500" b="1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lang="en-IN" sz="1500" b="1" dirty="0">
                <a:solidFill>
                  <a:srgbClr val="000000"/>
                </a:solidFill>
                <a:latin typeface="Aptos"/>
              </a:rPr>
              <a:t> test set and the same evaluation rules for both models.</a:t>
            </a:r>
            <a:endParaRPr sz="1500" b="1" dirty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411480"/>
            <a:ext cx="6142771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Problems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ptos"/>
              </a:rPr>
              <a:t>Relation Marker Loss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Long examples exceeded the 512-token limit.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Standard truncation removed one marked relation entity.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Required entity-preserving cropping and revalidation.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Low LLM Recall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False negatives: 2,025.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Recall: 39.33%.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Many gold biomedical mentions were missed.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Exact Boundary Mismatch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Correct concepts may be generated with different surface forms.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Strict offset matching counts these as incorrect.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79697"/>
              </p:ext>
            </p:extLst>
          </p:nvPr>
        </p:nvGraphicFramePr>
        <p:xfrm>
          <a:off x="7635240" y="930402"/>
          <a:ext cx="2590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Problem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Invalid JSON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2 outputs could not be parsed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Class imbalance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Low macro F1 in 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Different splits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Final comparison not complete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241548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7" y="3319272"/>
            <a:ext cx="3666744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LLM Output Reliability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JSON success rate was high.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Two outputs were invalid.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Valid JSON still needed label and offset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942332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7" y="5056632"/>
            <a:ext cx="3666744" cy="107899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Fair Comparison Issue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Current PubMedBERT and LLM results use different splits.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Final comparison must use identical documents and metrics.</a:t>
            </a:r>
          </a:p>
        </p:txBody>
      </p:sp>
      <p:pic>
        <p:nvPicPr>
          <p:cNvPr id="12" name="Picture 11" descr="image23.png">
            <a:extLst>
              <a:ext uri="{FF2B5EF4-FFF2-40B4-BE49-F238E27FC236}">
                <a16:creationId xmlns:a16="http://schemas.microsoft.com/office/drawing/2014/main" id="{6D6FE5EE-6BE6-DF61-D454-12ED9B33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69660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ptos"/>
              </a:rPr>
              <a:t>Future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1" y="2259427"/>
            <a:ext cx="6492240" cy="2043568"/>
          </a:xfrm>
          <a:prstGeom prst="rect">
            <a:avLst/>
          </a:prstGeom>
          <a:noFill/>
        </p:spPr>
        <p:txBody>
          <a:bodyPr wrap="square" lIns="45720" tIns="18288" rIns="45720" bIns="18288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ptos"/>
              </a:rPr>
              <a:t>Immediate Next Stage</a:t>
            </a:r>
            <a:endParaRPr lang="en-US" sz="1400" b="0" dirty="0">
              <a:solidFill>
                <a:srgbClr val="000000"/>
              </a:solidFill>
              <a:latin typeface="Aptos"/>
            </a:endParaRPr>
          </a:p>
          <a:p>
            <a:pPr>
              <a:spcAft>
                <a:spcPts val="200"/>
              </a:spcAft>
            </a:pPr>
            <a:endParaRPr lang="en-US" sz="1400" b="0" dirty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Define and freeze the LLM relation extraction schema.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Create a relation extraction prompt using BioRED labels [1].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Require valid entity references in predicted relations.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Run a small relation extraction pilot study.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Analyse unsupported and hallucinated relations.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Evaluate LLM RE against BioRED gold relations.</a:t>
            </a:r>
          </a:p>
          <a:p>
            <a:pPr>
              <a:spcAft>
                <a:spcPts val="2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Final Goal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Compare extraction accuracy, reliability, computational cost and suitability for knowledge graph construction.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1" y="1097280"/>
            <a:ext cx="3931920" cy="18836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LLM Relation Extraction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Relation schema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Frozen prompt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Pilot inference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Relation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Final Comparison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Same dataset split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NER precision, recall, F1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 macro and weighted F1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Invalid outputs and hallucinations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54533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Knowledge Graph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Entity nodes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Relation edges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Neo4j construction [7]</a:t>
            </a:r>
          </a:p>
          <a:p>
            <a:r>
              <a:rPr sz="1400" b="0">
                <a:solidFill>
                  <a:srgbClr val="000000"/>
                </a:solidFill>
                <a:latin typeface="Aptos"/>
              </a:rPr>
              <a:t>• Biomedical querying and comparison</a:t>
            </a:r>
          </a:p>
        </p:txBody>
      </p:sp>
      <p:pic>
        <p:nvPicPr>
          <p:cNvPr id="13" name="Picture 12" descr="image23.png">
            <a:extLst>
              <a:ext uri="{FF2B5EF4-FFF2-40B4-BE49-F238E27FC236}">
                <a16:creationId xmlns:a16="http://schemas.microsoft.com/office/drawing/2014/main" id="{3054B547-D0AF-9DA6-A1CF-12DD5882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0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58949"/>
            <a:ext cx="9366220" cy="44710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[1] Y. Luo et al., “BioRED: A Rich Biomedical Relation Extraction Dataset,” Briefings in Bioinformatics, 2022.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[2] Y. Gu et al., “Domain-Specific Language Model Pretraining for Biomedical Natural Language Processing,” ACM Transactions on Computing for Healthcare, 2021.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[3] J. Devlin et al., “BERT: Pre-training of Deep Bidirectional Transformers for Language Understanding,” NAACL-HLT, 2019.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[4] Qwen Team, “Qwen2.5 Technical Report,” arXiv:2412.15115, 2025.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[5] Hugging Face, “Transformers: bitsandbytes Quantization Documentation,” accessed 2026.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[6] Hugging Face, “Transformers Documentation,” accessed 2026.</a:t>
            </a:r>
          </a:p>
          <a:p>
            <a:r>
              <a:rPr sz="1300" b="0">
                <a:solidFill>
                  <a:srgbClr val="000000"/>
                </a:solidFill>
                <a:latin typeface="Aptos"/>
              </a:rPr>
              <a:t>[7] Neo4j, “Neo4j Graph Database Documentation,” accessed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1316</Words>
  <Application>Microsoft Macintosh PowerPoint</Application>
  <PresentationFormat>Widescreen</PresentationFormat>
  <Paragraphs>221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Milan, Mridul</cp:lastModifiedBy>
  <cp:revision>14</cp:revision>
  <dcterms:created xsi:type="dcterms:W3CDTF">2013-01-27T09:14:16Z</dcterms:created>
  <dcterms:modified xsi:type="dcterms:W3CDTF">2026-08-06T16:28:27Z</dcterms:modified>
  <cp:category/>
</cp:coreProperties>
</file>