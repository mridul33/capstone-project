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45"/>
  </p:normalViewPr>
  <p:slideViewPr>
    <p:cSldViewPr snapToGrid="0" snapToObjects="1">
      <p:cViewPr varScale="1">
        <p:scale>
          <a:sx n="120" d="100"/>
          <a:sy n="120" d="100"/>
        </p:scale>
        <p:origin x="192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0"/>
            <a:ext cx="5833872" cy="3931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55080" y="3931374"/>
            <a:ext cx="2924387" cy="2926626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011680" cy="497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828800"/>
            <a:ext cx="5303520" cy="2677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0" dirty="0">
                <a:solidFill>
                  <a:srgbClr val="000000"/>
                </a:solidFill>
                <a:latin typeface="Aptos"/>
              </a:rPr>
              <a:t>Comparing LLMs and Fine-Tuned Transformer-Based Models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0" dirty="0">
                <a:solidFill>
                  <a:srgbClr val="000000"/>
                </a:solidFill>
                <a:latin typeface="Aptos"/>
              </a:rPr>
              <a:t>for Biomedical NER and Relation Extraction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0" dirty="0">
                <a:solidFill>
                  <a:srgbClr val="000000"/>
                </a:solidFill>
                <a:latin typeface="Aptos"/>
              </a:rPr>
              <a:t>for Knowledge Graph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5965721"/>
            <a:ext cx="2812758" cy="830997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Mridul Milan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Student No: 25234387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Supervisor: Prof. Peter Paul Buitelaar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A8AC9EB-B224-AEBA-0BA2-017794615466}"/>
              </a:ext>
            </a:extLst>
          </p:cNvPr>
          <p:cNvSpPr/>
          <p:nvPr/>
        </p:nvSpPr>
        <p:spPr>
          <a:xfrm>
            <a:off x="9279467" y="3931920"/>
            <a:ext cx="2912634" cy="2926626"/>
          </a:xfrm>
          <a:custGeom>
            <a:avLst/>
            <a:gdLst/>
            <a:ahLst/>
            <a:cxnLst/>
            <a:rect l="l" t="t" r="r" b="b"/>
            <a:pathLst>
              <a:path w="1734820" h="2287270">
                <a:moveTo>
                  <a:pt x="1734819" y="0"/>
                </a:moveTo>
                <a:lnTo>
                  <a:pt x="0" y="0"/>
                </a:lnTo>
                <a:lnTo>
                  <a:pt x="0" y="2286723"/>
                </a:lnTo>
                <a:lnTo>
                  <a:pt x="1734819" y="2286723"/>
                </a:lnTo>
                <a:lnTo>
                  <a:pt x="1734819" y="0"/>
                </a:lnTo>
                <a:close/>
              </a:path>
            </a:pathLst>
          </a:custGeom>
          <a:solidFill>
            <a:srgbClr val="82003C"/>
          </a:solidFill>
        </p:spPr>
        <p:txBody>
          <a:bodyPr wrap="square" lIns="0" tIns="0" rIns="0" bIns="0" rtlCol="0"/>
          <a:lstStyle/>
          <a:p>
            <a:pPr algn="l"/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6100730" cy="758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Progress Since the Last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41942"/>
            <a:ext cx="6443470" cy="3458657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Previous Position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NER fine-tuning completed [2].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Final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test F1-score: 86.54% [1].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NER evaluation and error analysis completed.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Next planned stage: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PubMedBERT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relation extraction.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400" b="0" dirty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Progress Since Then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Completed relation-classification data.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Generated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No_Relation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examples.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Identified marker loss after truncation.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Started a separate LLM extraction notebook.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097280"/>
            <a:ext cx="3977639" cy="16916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7" y="1170432"/>
            <a:ext cx="3758183" cy="1581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Current Status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NER pipeline complete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RE data complete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RE training paused for validation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LLM pipeline prepared up to model 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977639" cy="1600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3136392"/>
            <a:ext cx="3758183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Focus of This Meeting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Recent implementation progress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Relation extraction challenge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LLM pipeline setup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Supervisor feedback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77639" cy="13258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4873752"/>
            <a:ext cx="3758183" cy="1216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Current Challenge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ptos"/>
              </a:rPr>
              <a:t>• Preserving both relation entities inside PubMedBERT’s 512-token input limit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195268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Stage 3.2: Relation Data Completion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1021902"/>
            <a:ext cx="8004679" cy="486858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 fontScale="92500" lnSpcReduction="200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 dirty="0">
                <a:solidFill>
                  <a:srgbClr val="000000"/>
                </a:solidFill>
                <a:latin typeface="Aptos"/>
              </a:rPr>
              <a:t>Balanced relation-classification dataset completed using </a:t>
            </a:r>
            <a:r>
              <a:rPr sz="1500" b="1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sz="1500" b="1" dirty="0">
                <a:solidFill>
                  <a:srgbClr val="000000"/>
                </a:solidFill>
                <a:latin typeface="Aptos"/>
              </a:rPr>
              <a:t> gold relations and generated </a:t>
            </a:r>
            <a:r>
              <a:rPr sz="1500" b="1" dirty="0" err="1">
                <a:solidFill>
                  <a:srgbClr val="000000"/>
                </a:solidFill>
                <a:latin typeface="Aptos"/>
              </a:rPr>
              <a:t>No_Relation</a:t>
            </a:r>
            <a:r>
              <a:rPr sz="1500" b="1" dirty="0">
                <a:solidFill>
                  <a:srgbClr val="000000"/>
                </a:solidFill>
                <a:latin typeface="Aptos"/>
              </a:rPr>
              <a:t> examples [1]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810512"/>
            <a:ext cx="4992624" cy="2770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Completed Dataset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Positive examples from BioRED gold relations [1]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Equal number of No_Relation examples added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Entity markers inserted around both arguments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8 BioRED relation labels + No_Relation [1]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400" b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Final examples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Train: 8,356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Development: 2,324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Test: 2,326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212080" cy="28803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10512"/>
            <a:ext cx="4992624" cy="2770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Outputs Saved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Prepared train/dev/test RE datasets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Relation label-to-ID mappings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Entity-marked model inputs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Files saved to Google Drive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endParaRPr sz="1400" b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Why this matters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Provides balanced supervision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Supports fair relation-classification evaluation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Prevents training before input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98348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 fontScale="92500"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Positive + No_Relation examples are now ready for supervised PubMedBERT relation 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5623560"/>
            <a:ext cx="8229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Next validation step: confirm both entity markers survive tokenisation and truncation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363391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Stage 3.3: Relation Validation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916" y="1978185"/>
            <a:ext cx="662940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ptos"/>
              </a:rPr>
              <a:t>• Validation identified 16 training examples with missing entity markers after tokenisation/truncation [2,3].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The affected examples had a final sequence length of 512 tokens.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The issue appears when relation arguments are far apart in long title-and-abstract text.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Standard truncation may retain one marked entity while removing the other.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PubMedBERT relation training was paused before using potentially corrupted examples [2].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424146"/>
              </p:ext>
            </p:extLst>
          </p:nvPr>
        </p:nvGraphicFramePr>
        <p:xfrm>
          <a:off x="7635240" y="854964"/>
          <a:ext cx="2590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Issue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Affected split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Training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Length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512 tokens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0160" y="3408426"/>
            <a:ext cx="3886200" cy="15544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9888" y="3543187"/>
            <a:ext cx="3666744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Why this matters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Relation classification needs both arguments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Missing markers change the task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Incorrect inputs could corrupt supervision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0160" y="5157216"/>
            <a:ext cx="388620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39888" y="5157216"/>
            <a:ext cx="3666744" cy="10789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Decision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Pause RE training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Treat as input-design challenge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Redesign context strategy before fine-tuning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633337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Current RE Challenge: Preserving Relation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8940"/>
            <a:ext cx="672084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ptos"/>
              </a:rPr>
              <a:t>• PubMedBERT supports a maximum sequence length of 512 tokens [2,3].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Some BioRED documents contain relation entities that are far apart.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Full-document truncation is not always safe for relation classification.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The model must receive both marked entities and enough surrounding context.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The challenge is to redesign the input while keeping evaluation fair and reproducible.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051560"/>
            <a:ext cx="3474720" cy="347472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Possible Strategy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600200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Long document with distant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258568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Locate both relation arguments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2916936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Build entity-centred context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575304"/>
            <a:ext cx="3108960" cy="329184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Validate both markers before training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6446"/>
              </p:ext>
            </p:extLst>
          </p:nvPr>
        </p:nvGraphicFramePr>
        <p:xfrm>
          <a:off x="8153400" y="4681728"/>
          <a:ext cx="2804160" cy="1787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000000"/>
                          </a:solidFill>
                          <a:latin typeface="Aptos"/>
                        </a:rPr>
                        <a:t>Option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Decision Needed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Repair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Keep examples using safer windows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Exclude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Remove 16 affected examples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Redesign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Use entity-</a:t>
                      </a:r>
                      <a:r>
                        <a:rPr sz="1200" b="0" dirty="0" err="1">
                          <a:solidFill>
                            <a:srgbClr val="000000"/>
                          </a:solidFill>
                          <a:latin typeface="Aptos"/>
                        </a:rPr>
                        <a:t>centred</a:t>
                      </a:r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 truncation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5443606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Stage 4: LLM Pipeline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00728"/>
            <a:ext cx="644652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ptos"/>
              </a:rPr>
              <a:t>• Created a separate Colab notebook for LLM-based biomedical extraction.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Defined the 6 BioRED entity categories and 8 relation categories [1].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Designed strict JSON output containing entities and relations.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LLM predicts entity text and type; Python recovers exact offsets.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Added handling for missing mentions and repeated entity mentions.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This pipeline uses the same BioRED text and schema as the PubMedBERT experiments [1,2].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279270"/>
              </p:ext>
            </p:extLst>
          </p:nvPr>
        </p:nvGraphicFramePr>
        <p:xfrm>
          <a:off x="6995160" y="353003"/>
          <a:ext cx="4480560" cy="177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204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Split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Docs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Entities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Relations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443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Train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13,351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4,178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74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Dev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3,533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1,162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74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Test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3,535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1,163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95160" y="2878553"/>
            <a:ext cx="4480560" cy="177496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04888" y="2957125"/>
            <a:ext cx="4261104" cy="130759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Schema Design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Six entity types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Eight relation types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Strict JSON format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No unsupported labels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No free-text explanation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4809743"/>
            <a:ext cx="4480560" cy="1656983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4802519"/>
            <a:ext cx="4261104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Data Prepared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All 600 documents loaded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Title + abstract reconstructed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BioRED offsets preserved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Gold labels retained for 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411480"/>
            <a:ext cx="6941557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Stage 4: Prompt Pipeline and Model Selection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356616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170432"/>
            <a:ext cx="3346704" cy="190195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 dirty="0">
                <a:solidFill>
                  <a:srgbClr val="000000"/>
                </a:solidFill>
                <a:latin typeface="Aptos"/>
              </a:rPr>
              <a:t>Prompt Validation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Three development documents selected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Zero-shot </a:t>
            </a:r>
            <a:r>
              <a:rPr sz="1400" b="0" dirty="0" err="1">
                <a:solidFill>
                  <a:srgbClr val="000000"/>
                </a:solidFill>
                <a:latin typeface="Aptos"/>
              </a:rPr>
              <a:t>BioRED</a:t>
            </a:r>
            <a:r>
              <a:rPr sz="1400" b="0" dirty="0">
                <a:solidFill>
                  <a:srgbClr val="000000"/>
                </a:solidFill>
                <a:latin typeface="Aptos"/>
              </a:rPr>
              <a:t> extraction prompt built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Required JSON structure checked automatically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• All three pilot prompts passed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56616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170432"/>
            <a:ext cx="3346704" cy="1901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Selected Model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Qwen2.5-7B-Instruct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Open-source instruction model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Planned in Google Colab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4-bit quantisation to reduce GPU memory [5]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097280"/>
            <a:ext cx="3566160" cy="2103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5048" y="1170432"/>
            <a:ext cx="3346704" cy="19019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API Decision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OpenAI API could be stronger but costly at full-dataset scale [6]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600 documents may increase total cost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Open-source model improves reproducibility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No paid API required for main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78992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600" b="0">
                <a:solidFill>
                  <a:srgbClr val="000000"/>
                </a:solidFill>
                <a:latin typeface="Aptos"/>
              </a:rPr>
              <a:t>• Stage 4 currently ends at model selection and configuration.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• The LLM has not yet been loaded.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• No LLM predictions or evaluation results have been produced yet.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0">
                <a:solidFill>
                  <a:srgbClr val="000000"/>
                </a:solidFill>
                <a:latin typeface="Aptos"/>
              </a:rPr>
              <a:t>• Next step is controlled inference on the three pilot development documents.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5715000"/>
            <a:ext cx="9372600" cy="411480"/>
          </a:xfrm>
          <a:prstGeom prst="roundRect">
            <a:avLst/>
          </a:prstGeom>
          <a:solidFill>
            <a:srgbClr val="F8EBF3"/>
          </a:solidFill>
          <a:ln w="12700">
            <a:solidFill>
              <a:srgbClr val="A80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00000"/>
                </a:solidFill>
                <a:latin typeface="Aptos"/>
              </a:rPr>
              <a:t>Key status: LLM pipeline is prepared for pilot inference, but extraction has not yet been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59" y="411480"/>
            <a:ext cx="6142771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Current Status and Immediate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6629400" cy="2045175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ptos"/>
              </a:rPr>
              <a:t>Completed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PubMedBERT NER evaluation completed: 86.54% F1.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Relation data completed with balanced No_Relation examples.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Relation-input validation identified 16 marker-loss cases.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LLM schema, JSON format, data loading and prompt validation completed.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Qwen2.5-7B-Instruct selected for open-source LLM testing [4].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79697"/>
              </p:ext>
            </p:extLst>
          </p:nvPr>
        </p:nvGraphicFramePr>
        <p:xfrm>
          <a:off x="7635240" y="930402"/>
          <a:ext cx="25908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Pipeline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Aptos"/>
                        </a:rPr>
                        <a:t>Current stage</a:t>
                      </a:r>
                    </a:p>
                  </a:txBody>
                  <a:tcPr marL="45720" marR="45720" marT="27432" marB="27432">
                    <a:solidFill>
                      <a:srgbClr val="F8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PubMedBERT NER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Complete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PubMedBERT 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Paused at validation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Aptos"/>
                        </a:rPr>
                        <a:t>LLM extraction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Aptos"/>
                        </a:rPr>
                        <a:t>Ready for pilot inference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35240" y="3241548"/>
            <a:ext cx="3886200" cy="15590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44967" y="3319272"/>
            <a:ext cx="3666744" cy="14447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Immediate Next Steps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Load Qwen2.5-7B-Instruct in 4-bit mode [4,5]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Run the three-document pilot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Parse and validate JSON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Recover entity offsets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4942332"/>
            <a:ext cx="3886200" cy="1559052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7" y="5056632"/>
            <a:ext cx="3666744" cy="1078992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00000"/>
                </a:solidFill>
                <a:latin typeface="Aptos"/>
              </a:rPr>
              <a:t>Final Next Steps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Analyse hallucinations and missed entities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Freeze prompt after dev testing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Run final LLM evaluation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Compare with PubMedBERT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000000"/>
                </a:solidFill>
                <a:latin typeface="Aptos"/>
              </a:rPr>
              <a:t>• Store outputs in Neo4j [7]</a:t>
            </a:r>
          </a:p>
        </p:txBody>
      </p:sp>
      <p:pic>
        <p:nvPicPr>
          <p:cNvPr id="12" name="Picture 11" descr="image23.png">
            <a:extLst>
              <a:ext uri="{FF2B5EF4-FFF2-40B4-BE49-F238E27FC236}">
                <a16:creationId xmlns:a16="http://schemas.microsoft.com/office/drawing/2014/main" id="{6D6FE5EE-6BE6-DF61-D454-12ED9B33F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56832"/>
            <a:ext cx="12191695" cy="45720"/>
          </a:xfrm>
          <a:prstGeom prst="rect">
            <a:avLst/>
          </a:prstGeom>
          <a:solidFill>
            <a:srgbClr val="A80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0000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4696607" cy="4001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2400" b="1" dirty="0">
                <a:solidFill>
                  <a:srgbClr val="000000"/>
                </a:solidFill>
                <a:latin typeface="Aptos"/>
              </a:rPr>
              <a:t>Current Decisions Requiring Supervisor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1" y="2259427"/>
            <a:ext cx="6492240" cy="2043568"/>
          </a:xfrm>
          <a:prstGeom prst="rect">
            <a:avLst/>
          </a:prstGeom>
          <a:noFill/>
        </p:spPr>
        <p:txBody>
          <a:bodyPr wrap="square" lIns="45720" tIns="18288" rIns="45720" bIns="18288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000000"/>
                </a:solidFill>
                <a:latin typeface="Arial"/>
              </a:defRPr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Main Questions</a:t>
            </a:r>
            <a:endParaRPr lang="en-US" sz="1400" b="0" dirty="0">
              <a:solidFill>
                <a:srgbClr val="000000"/>
              </a:solidFill>
              <a:latin typeface="Aptos"/>
            </a:endParaRPr>
          </a:p>
          <a:p>
            <a:pPr>
              <a:spcBef>
                <a:spcPts val="0"/>
              </a:spcBef>
              <a:spcAft>
                <a:spcPts val="100"/>
              </a:spcAft>
              <a:defRPr sz="1500">
                <a:solidFill>
                  <a:srgbClr val="000000"/>
                </a:solidFill>
                <a:latin typeface="Arial"/>
              </a:defRPr>
            </a:pPr>
            <a:endParaRPr sz="1400" b="0" dirty="0">
              <a:solidFill>
                <a:srgbClr val="000000"/>
              </a:solidFill>
              <a:latin typeface="Aptos"/>
            </a:endParaRPr>
          </a:p>
          <a:p>
            <a:pPr marL="285750" indent="-285750"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Is Qwen2.5-7B-Instruct an appropriate main LLM for this study [4]?</a:t>
            </a:r>
          </a:p>
          <a:p>
            <a:pPr marL="285750" indent="-285750"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000000"/>
                </a:solidFill>
                <a:latin typeface="Aptos"/>
              </a:rPr>
              <a:t>Should I include an OpenAI model despite API cost across 600 documents [6]?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What is the most suitable way to preserve both marked entities within </a:t>
            </a:r>
            <a:r>
              <a:rPr lang="en-IN" sz="1400" dirty="0" err="1"/>
              <a:t>PubMedBERT’s</a:t>
            </a:r>
            <a:r>
              <a:rPr lang="en-IN" sz="1400" dirty="0"/>
              <a:t> 512-token limit?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IN" sz="1400" dirty="0"/>
              <a:t>For the 16 affected relation examples, should I repair the inputs using entity-centred context windows or exclude them?</a:t>
            </a:r>
            <a:endParaRPr sz="1400" b="0" dirty="0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543801" y="1097280"/>
            <a:ext cx="3931920" cy="1883664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53527" y="1170432"/>
            <a:ext cx="3758183" cy="1581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LLM Selection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Qwen2.5-7B-Instruct vs biomedical LLM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One model vs small model comparison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Open-source reproducibility vs paid API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063240"/>
            <a:ext cx="3977639" cy="16002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53527" y="3136392"/>
            <a:ext cx="3758183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Relation Extraction Challenge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Best method to preserve both marked entities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Repair, exclude, or redesign the 16 cases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Consider entity-centred context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800600"/>
            <a:ext cx="3977639" cy="1545336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53527" y="4873752"/>
            <a:ext cx="3758183" cy="12161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00000"/>
                </a:solidFill>
                <a:latin typeface="Aptos"/>
              </a:rPr>
              <a:t>Evaluation Design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Strict vs relaxed entity matching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Handling repeated mentions and offsets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000000"/>
                </a:solidFill>
                <a:latin typeface="Aptos"/>
              </a:rPr>
              <a:t>• Measuring hallucinations, invalid labels and consistency</a:t>
            </a:r>
          </a:p>
        </p:txBody>
      </p:sp>
      <p:pic>
        <p:nvPicPr>
          <p:cNvPr id="13" name="Picture 12" descr="image23.png">
            <a:extLst>
              <a:ext uri="{FF2B5EF4-FFF2-40B4-BE49-F238E27FC236}">
                <a16:creationId xmlns:a16="http://schemas.microsoft.com/office/drawing/2014/main" id="{3054B547-D0AF-9DA6-A1CF-12DD5882F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6345936"/>
            <a:ext cx="1691640" cy="4180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75720" y="6272784"/>
            <a:ext cx="4114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66231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400" b="1" dirty="0">
                <a:solidFill>
                  <a:srgbClr val="000000"/>
                </a:solidFill>
                <a:latin typeface="Arial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58949"/>
            <a:ext cx="9366220" cy="4471096"/>
          </a:xfrm>
          <a:prstGeom prst="rect">
            <a:avLst/>
          </a:prstGeom>
          <a:noFill/>
        </p:spPr>
        <p:txBody>
          <a:bodyPr wrap="square" lIns="45720" tIns="0" rIns="4572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dirty="0">
                <a:solidFill>
                  <a:srgbClr val="000000"/>
                </a:solidFill>
                <a:latin typeface="Arial"/>
              </a:rPr>
              <a:t>[1] Y. Luo et al., “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BioRED</a:t>
            </a:r>
            <a:r>
              <a:rPr sz="2000" dirty="0">
                <a:solidFill>
                  <a:srgbClr val="000000"/>
                </a:solidFill>
                <a:latin typeface="Arial"/>
              </a:rPr>
              <a:t>: A Rich Biomedical Relation Extraction Dataset,” Briefings in Bioinformatics, 2022.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dirty="0">
                <a:solidFill>
                  <a:srgbClr val="000000"/>
                </a:solidFill>
                <a:latin typeface="Arial"/>
              </a:rPr>
              <a:t>[2] Y. Gu et al., “Domain-Specific Language Model Pretraining for Biomedical Natural Language Processing,” ACM Transactions on Computing for Healthcare, 2021.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dirty="0">
                <a:solidFill>
                  <a:srgbClr val="000000"/>
                </a:solidFill>
                <a:latin typeface="Arial"/>
              </a:rPr>
              <a:t>[3] J. Devlin et al., “BERT: Pre-training of Deep Bidirectional Transformers for Language Understanding,” NAACL-HLT, 2019.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dirty="0">
                <a:solidFill>
                  <a:srgbClr val="000000"/>
                </a:solidFill>
                <a:latin typeface="Arial"/>
              </a:rPr>
              <a:t>[4] Qwen Team, “Qwen2.5 Technical Report,” arXiv:2412.15115, 2025.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dirty="0">
                <a:solidFill>
                  <a:srgbClr val="000000"/>
                </a:solidFill>
                <a:latin typeface="Arial"/>
              </a:rPr>
              <a:t>[5] Hugging Face, “Transformers: </a:t>
            </a:r>
            <a:r>
              <a:rPr sz="2000" dirty="0" err="1">
                <a:solidFill>
                  <a:srgbClr val="000000"/>
                </a:solidFill>
                <a:latin typeface="Arial"/>
              </a:rPr>
              <a:t>bitsandbytes</a:t>
            </a:r>
            <a:r>
              <a:rPr sz="2000" dirty="0">
                <a:solidFill>
                  <a:srgbClr val="000000"/>
                </a:solidFill>
                <a:latin typeface="Arial"/>
              </a:rPr>
              <a:t> Quantization Documentation,” accessed 2026.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dirty="0">
                <a:solidFill>
                  <a:srgbClr val="000000"/>
                </a:solidFill>
                <a:latin typeface="Arial"/>
              </a:rPr>
              <a:t>[6] OpenAI, “API Pricing,” accessed July 2026.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2000" dirty="0">
                <a:solidFill>
                  <a:srgbClr val="000000"/>
                </a:solidFill>
                <a:latin typeface="Arial"/>
              </a:rPr>
              <a:t>[7] Neo4j, “Neo4j Graph Database Documentation,” accessed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1259</Words>
  <Application>Microsoft Macintosh PowerPoint</Application>
  <PresentationFormat>Widescreen</PresentationFormat>
  <Paragraphs>212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Milan, Mridul</cp:lastModifiedBy>
  <cp:revision>9</cp:revision>
  <dcterms:created xsi:type="dcterms:W3CDTF">2013-01-27T09:14:16Z</dcterms:created>
  <dcterms:modified xsi:type="dcterms:W3CDTF">2026-07-31T12:09:24Z</dcterms:modified>
  <cp:category/>
</cp:coreProperties>
</file>